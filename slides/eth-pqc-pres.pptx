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40"/>
  </p:notesMasterIdLst>
  <p:sldIdLst>
    <p:sldId id="256" r:id="rId2"/>
    <p:sldId id="257" r:id="rId3"/>
    <p:sldId id="305" r:id="rId4"/>
    <p:sldId id="313" r:id="rId5"/>
    <p:sldId id="303" r:id="rId6"/>
    <p:sldId id="278" r:id="rId7"/>
    <p:sldId id="336" r:id="rId8"/>
    <p:sldId id="304" r:id="rId9"/>
    <p:sldId id="314" r:id="rId10"/>
    <p:sldId id="315" r:id="rId11"/>
    <p:sldId id="279" r:id="rId12"/>
    <p:sldId id="301" r:id="rId13"/>
    <p:sldId id="317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280" r:id="rId22"/>
    <p:sldId id="287" r:id="rId23"/>
    <p:sldId id="327" r:id="rId24"/>
    <p:sldId id="328" r:id="rId25"/>
    <p:sldId id="329" r:id="rId26"/>
    <p:sldId id="277" r:id="rId27"/>
    <p:sldId id="282" r:id="rId28"/>
    <p:sldId id="296" r:id="rId29"/>
    <p:sldId id="335" r:id="rId30"/>
    <p:sldId id="330" r:id="rId31"/>
    <p:sldId id="332" r:id="rId32"/>
    <p:sldId id="333" r:id="rId33"/>
    <p:sldId id="326" r:id="rId34"/>
    <p:sldId id="297" r:id="rId35"/>
    <p:sldId id="334" r:id="rId36"/>
    <p:sldId id="283" r:id="rId37"/>
    <p:sldId id="295" r:id="rId38"/>
    <p:sldId id="284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0812F-8919-1286-E271-357E331060B7}" v="69" dt="2025-06-10T08:33:00.627"/>
    <p1510:client id="{CD66F0D3-33AC-EC00-D20F-AB7B4BCB98A7}" v="111" dt="2025-06-10T08:22:50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4" Type="http://schemas.openxmlformats.org/officeDocument/2006/relationships/image" Target="../media/image5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4" Type="http://schemas.openxmlformats.org/officeDocument/2006/relationships/image" Target="../media/image6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4" Type="http://schemas.openxmlformats.org/officeDocument/2006/relationships/image" Target="../media/image5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4" Type="http://schemas.openxmlformats.org/officeDocument/2006/relationships/image" Target="../media/image6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0091D7-A2DE-4B9D-9B03-7DFB4F7F9CF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84D8FC-E4CF-48F6-BC4B-0A3FD0C20C41}">
      <dgm:prSet custT="1"/>
      <dgm:spPr/>
      <dgm:t>
        <a:bodyPr anchor="ctr"/>
        <a:lstStyle/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Based on One-time signatures</a:t>
          </a:r>
        </a:p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Organized in a Merkle tree</a:t>
          </a:r>
        </a:p>
      </dgm:t>
    </dgm:pt>
    <dgm:pt modelId="{58C44E07-6476-46F4-A3CC-530C8AC7CCAC}" type="parTrans" cxnId="{8EFEEE15-B040-4C42-8435-F6E500AC1A3F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141EB6B9-D243-4047-8162-046194FE0DCC}" type="sibTrans" cxnId="{8EFEEE15-B040-4C42-8435-F6E500AC1A3F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F703450A-99D4-46E1-B246-71F81CF68438}">
      <dgm:prSet custT="1"/>
      <dgm:spPr/>
      <dgm:t>
        <a:bodyPr anchor="ctr"/>
        <a:lstStyle/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Security relies only </a:t>
          </a:r>
        </a:p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on collision-resistant hash functions</a:t>
          </a:r>
          <a:endParaRPr lang="en-US" sz="1600" noProof="0" dirty="0">
            <a:latin typeface="Garamond" panose="02020404030301010803" pitchFamily="18" charset="0"/>
          </a:endParaRPr>
        </a:p>
      </dgm:t>
    </dgm:pt>
    <dgm:pt modelId="{7C92A035-6300-4CA5-A52E-E3FCE9E2363B}" type="parTrans" cxnId="{CCC38E99-D9A9-420D-9075-3A0CC6D46894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0C221E0F-D2C5-44B6-96E3-CB9DB07CFE08}" type="sibTrans" cxnId="{CCC38E99-D9A9-420D-9075-3A0CC6D46894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981EFC08-7927-4788-BBCB-C4008D4FE20B}" type="pres">
      <dgm:prSet presAssocID="{400091D7-A2DE-4B9D-9B03-7DFB4F7F9CF3}" presName="root" presStyleCnt="0">
        <dgm:presLayoutVars>
          <dgm:dir/>
          <dgm:resizeHandles val="exact"/>
        </dgm:presLayoutVars>
      </dgm:prSet>
      <dgm:spPr/>
    </dgm:pt>
    <dgm:pt modelId="{FA2A0B2A-83E4-4C66-94C4-0C71A2441D44}" type="pres">
      <dgm:prSet presAssocID="{1E84D8FC-E4CF-48F6-BC4B-0A3FD0C20C41}" presName="compNode" presStyleCnt="0"/>
      <dgm:spPr/>
    </dgm:pt>
    <dgm:pt modelId="{0A9BED13-B6E9-4EE8-8F3B-BEA62D419C35}" type="pres">
      <dgm:prSet presAssocID="{1E84D8FC-E4CF-48F6-BC4B-0A3FD0C20C4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bre à feuilles caduques avec un remplissage uni"/>
        </a:ext>
      </dgm:extLst>
    </dgm:pt>
    <dgm:pt modelId="{8FE7659E-70A4-4432-BB87-081F8CF6849A}" type="pres">
      <dgm:prSet presAssocID="{1E84D8FC-E4CF-48F6-BC4B-0A3FD0C20C41}" presName="spaceRect" presStyleCnt="0"/>
      <dgm:spPr/>
    </dgm:pt>
    <dgm:pt modelId="{4AE7470A-2352-499B-B3C3-9A196F8ECAC7}" type="pres">
      <dgm:prSet presAssocID="{1E84D8FC-E4CF-48F6-BC4B-0A3FD0C20C41}" presName="textRect" presStyleLbl="revTx" presStyleIdx="0" presStyleCnt="2" custScaleX="143808">
        <dgm:presLayoutVars>
          <dgm:chMax val="1"/>
          <dgm:chPref val="1"/>
        </dgm:presLayoutVars>
      </dgm:prSet>
      <dgm:spPr/>
    </dgm:pt>
    <dgm:pt modelId="{43D0342B-85C5-47B8-8561-7B998CD4D7EC}" type="pres">
      <dgm:prSet presAssocID="{141EB6B9-D243-4047-8162-046194FE0DCC}" presName="sibTrans" presStyleCnt="0"/>
      <dgm:spPr/>
    </dgm:pt>
    <dgm:pt modelId="{26E10EE4-E3E5-4261-BE42-C78BCD2B9DED}" type="pres">
      <dgm:prSet presAssocID="{F703450A-99D4-46E1-B246-71F81CF68438}" presName="compNode" presStyleCnt="0"/>
      <dgm:spPr/>
    </dgm:pt>
    <dgm:pt modelId="{EAA3639B-37A2-4BB5-B7EE-2A345CD4958C}" type="pres">
      <dgm:prSet presAssocID="{F703450A-99D4-46E1-B246-71F81CF6843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rou avec un remplissage uni"/>
        </a:ext>
      </dgm:extLst>
    </dgm:pt>
    <dgm:pt modelId="{0FCCD65E-270E-4C4F-9D81-207E9BA90106}" type="pres">
      <dgm:prSet presAssocID="{F703450A-99D4-46E1-B246-71F81CF68438}" presName="spaceRect" presStyleCnt="0"/>
      <dgm:spPr/>
    </dgm:pt>
    <dgm:pt modelId="{24D419BF-5215-4347-B700-3BF43D97F455}" type="pres">
      <dgm:prSet presAssocID="{F703450A-99D4-46E1-B246-71F81CF68438}" presName="textRect" presStyleLbl="revTx" presStyleIdx="1" presStyleCnt="2" custScaleX="134231">
        <dgm:presLayoutVars>
          <dgm:chMax val="1"/>
          <dgm:chPref val="1"/>
        </dgm:presLayoutVars>
      </dgm:prSet>
      <dgm:spPr/>
    </dgm:pt>
  </dgm:ptLst>
  <dgm:cxnLst>
    <dgm:cxn modelId="{8EFEEE15-B040-4C42-8435-F6E500AC1A3F}" srcId="{400091D7-A2DE-4B9D-9B03-7DFB4F7F9CF3}" destId="{1E84D8FC-E4CF-48F6-BC4B-0A3FD0C20C41}" srcOrd="0" destOrd="0" parTransId="{58C44E07-6476-46F4-A3CC-530C8AC7CCAC}" sibTransId="{141EB6B9-D243-4047-8162-046194FE0DCC}"/>
    <dgm:cxn modelId="{8C651C82-D8D1-448F-ACA8-9CE0D3DD3B4C}" type="presOf" srcId="{F703450A-99D4-46E1-B246-71F81CF68438}" destId="{24D419BF-5215-4347-B700-3BF43D97F455}" srcOrd="0" destOrd="0" presId="urn:microsoft.com/office/officeart/2018/2/layout/IconLabelList"/>
    <dgm:cxn modelId="{760E9E8D-DE84-4FBB-AF57-96EC6E40C42D}" type="presOf" srcId="{400091D7-A2DE-4B9D-9B03-7DFB4F7F9CF3}" destId="{981EFC08-7927-4788-BBCB-C4008D4FE20B}" srcOrd="0" destOrd="0" presId="urn:microsoft.com/office/officeart/2018/2/layout/IconLabelList"/>
    <dgm:cxn modelId="{CCC38E99-D9A9-420D-9075-3A0CC6D46894}" srcId="{400091D7-A2DE-4B9D-9B03-7DFB4F7F9CF3}" destId="{F703450A-99D4-46E1-B246-71F81CF68438}" srcOrd="1" destOrd="0" parTransId="{7C92A035-6300-4CA5-A52E-E3FCE9E2363B}" sibTransId="{0C221E0F-D2C5-44B6-96E3-CB9DB07CFE08}"/>
    <dgm:cxn modelId="{34CEBBA8-F562-41A9-8E1B-678DBB225B48}" type="presOf" srcId="{1E84D8FC-E4CF-48F6-BC4B-0A3FD0C20C41}" destId="{4AE7470A-2352-499B-B3C3-9A196F8ECAC7}" srcOrd="0" destOrd="0" presId="urn:microsoft.com/office/officeart/2018/2/layout/IconLabelList"/>
    <dgm:cxn modelId="{CC7863A2-1950-4DD0-8C4D-9B9354FC3EF1}" type="presParOf" srcId="{981EFC08-7927-4788-BBCB-C4008D4FE20B}" destId="{FA2A0B2A-83E4-4C66-94C4-0C71A2441D44}" srcOrd="0" destOrd="0" presId="urn:microsoft.com/office/officeart/2018/2/layout/IconLabelList"/>
    <dgm:cxn modelId="{0A8ADE48-6266-48B9-A2EB-BA1A2C9AD4C4}" type="presParOf" srcId="{FA2A0B2A-83E4-4C66-94C4-0C71A2441D44}" destId="{0A9BED13-B6E9-4EE8-8F3B-BEA62D419C35}" srcOrd="0" destOrd="0" presId="urn:microsoft.com/office/officeart/2018/2/layout/IconLabelList"/>
    <dgm:cxn modelId="{63FD6E01-9AD3-4782-A8E4-AD4C281E6590}" type="presParOf" srcId="{FA2A0B2A-83E4-4C66-94C4-0C71A2441D44}" destId="{8FE7659E-70A4-4432-BB87-081F8CF6849A}" srcOrd="1" destOrd="0" presId="urn:microsoft.com/office/officeart/2018/2/layout/IconLabelList"/>
    <dgm:cxn modelId="{0AF53ED5-AFFA-47AD-A945-085B764BBCD6}" type="presParOf" srcId="{FA2A0B2A-83E4-4C66-94C4-0C71A2441D44}" destId="{4AE7470A-2352-499B-B3C3-9A196F8ECAC7}" srcOrd="2" destOrd="0" presId="urn:microsoft.com/office/officeart/2018/2/layout/IconLabelList"/>
    <dgm:cxn modelId="{D8AA808B-A0EC-4521-BC58-229F6A4E5562}" type="presParOf" srcId="{981EFC08-7927-4788-BBCB-C4008D4FE20B}" destId="{43D0342B-85C5-47B8-8561-7B998CD4D7EC}" srcOrd="1" destOrd="0" presId="urn:microsoft.com/office/officeart/2018/2/layout/IconLabelList"/>
    <dgm:cxn modelId="{834F41A1-7910-4CC1-B604-9B11608A89FE}" type="presParOf" srcId="{981EFC08-7927-4788-BBCB-C4008D4FE20B}" destId="{26E10EE4-E3E5-4261-BE42-C78BCD2B9DED}" srcOrd="2" destOrd="0" presId="urn:microsoft.com/office/officeart/2018/2/layout/IconLabelList"/>
    <dgm:cxn modelId="{16CBAC5C-6B9C-4199-A0CC-2AFC2971B9A4}" type="presParOf" srcId="{26E10EE4-E3E5-4261-BE42-C78BCD2B9DED}" destId="{EAA3639B-37A2-4BB5-B7EE-2A345CD4958C}" srcOrd="0" destOrd="0" presId="urn:microsoft.com/office/officeart/2018/2/layout/IconLabelList"/>
    <dgm:cxn modelId="{9B166A99-39AD-4280-AC50-5733AB42BECE}" type="presParOf" srcId="{26E10EE4-E3E5-4261-BE42-C78BCD2B9DED}" destId="{0FCCD65E-270E-4C4F-9D81-207E9BA90106}" srcOrd="1" destOrd="0" presId="urn:microsoft.com/office/officeart/2018/2/layout/IconLabelList"/>
    <dgm:cxn modelId="{8FA8C14A-AC90-4755-9C01-0D2A6E5BA34B}" type="presParOf" srcId="{26E10EE4-E3E5-4261-BE42-C78BCD2B9DED}" destId="{24D419BF-5215-4347-B700-3BF43D97F45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0091D7-A2DE-4B9D-9B03-7DFB4F7F9CF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84D8FC-E4CF-48F6-BC4B-0A3FD0C20C41}">
      <dgm:prSet custT="1"/>
      <dgm:spPr/>
      <dgm:t>
        <a:bodyPr anchor="ctr"/>
        <a:lstStyle/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Based on NTRU Lattices and used Fast Fourier Transform </a:t>
          </a:r>
        </a:p>
      </dgm:t>
    </dgm:pt>
    <dgm:pt modelId="{58C44E07-6476-46F4-A3CC-530C8AC7CCAC}" type="parTrans" cxnId="{8EFEEE15-B040-4C42-8435-F6E500AC1A3F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141EB6B9-D243-4047-8162-046194FE0DCC}" type="sibTrans" cxnId="{8EFEEE15-B040-4C42-8435-F6E500AC1A3F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F703450A-99D4-46E1-B246-71F81CF68438}">
      <dgm:prSet custT="1"/>
      <dgm:spPr/>
      <dgm:t>
        <a:bodyPr anchor="ctr"/>
        <a:lstStyle/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Security relies on</a:t>
          </a:r>
        </a:p>
        <a:p>
          <a:pPr>
            <a:lnSpc>
              <a:spcPct val="100000"/>
            </a:lnSpc>
          </a:pPr>
          <a:r>
            <a:rPr lang="en-US" sz="1600" b="1" noProof="0" dirty="0">
              <a:latin typeface="Garamond" panose="02020404030301010803" pitchFamily="18" charset="0"/>
            </a:rPr>
            <a:t>Hard NTRU lattice problems</a:t>
          </a:r>
        </a:p>
      </dgm:t>
    </dgm:pt>
    <dgm:pt modelId="{7C92A035-6300-4CA5-A52E-E3FCE9E2363B}" type="parTrans" cxnId="{CCC38E99-D9A9-420D-9075-3A0CC6D46894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0C221E0F-D2C5-44B6-96E3-CB9DB07CFE08}" type="sibTrans" cxnId="{CCC38E99-D9A9-420D-9075-3A0CC6D46894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981EFC08-7927-4788-BBCB-C4008D4FE20B}" type="pres">
      <dgm:prSet presAssocID="{400091D7-A2DE-4B9D-9B03-7DFB4F7F9CF3}" presName="root" presStyleCnt="0">
        <dgm:presLayoutVars>
          <dgm:dir/>
          <dgm:resizeHandles val="exact"/>
        </dgm:presLayoutVars>
      </dgm:prSet>
      <dgm:spPr/>
    </dgm:pt>
    <dgm:pt modelId="{FA2A0B2A-83E4-4C66-94C4-0C71A2441D44}" type="pres">
      <dgm:prSet presAssocID="{1E84D8FC-E4CF-48F6-BC4B-0A3FD0C20C41}" presName="compNode" presStyleCnt="0"/>
      <dgm:spPr/>
    </dgm:pt>
    <dgm:pt modelId="{0A9BED13-B6E9-4EE8-8F3B-BEA62D419C35}" type="pres">
      <dgm:prSet presAssocID="{1E84D8FC-E4CF-48F6-BC4B-0A3FD0C20C4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ématiques avec un remplissage uni"/>
        </a:ext>
      </dgm:extLst>
    </dgm:pt>
    <dgm:pt modelId="{8FE7659E-70A4-4432-BB87-081F8CF6849A}" type="pres">
      <dgm:prSet presAssocID="{1E84D8FC-E4CF-48F6-BC4B-0A3FD0C20C41}" presName="spaceRect" presStyleCnt="0"/>
      <dgm:spPr/>
    </dgm:pt>
    <dgm:pt modelId="{4AE7470A-2352-499B-B3C3-9A196F8ECAC7}" type="pres">
      <dgm:prSet presAssocID="{1E84D8FC-E4CF-48F6-BC4B-0A3FD0C20C41}" presName="textRect" presStyleLbl="revTx" presStyleIdx="0" presStyleCnt="2" custScaleX="143808">
        <dgm:presLayoutVars>
          <dgm:chMax val="1"/>
          <dgm:chPref val="1"/>
        </dgm:presLayoutVars>
      </dgm:prSet>
      <dgm:spPr/>
    </dgm:pt>
    <dgm:pt modelId="{43D0342B-85C5-47B8-8561-7B998CD4D7EC}" type="pres">
      <dgm:prSet presAssocID="{141EB6B9-D243-4047-8162-046194FE0DCC}" presName="sibTrans" presStyleCnt="0"/>
      <dgm:spPr/>
    </dgm:pt>
    <dgm:pt modelId="{26E10EE4-E3E5-4261-BE42-C78BCD2B9DED}" type="pres">
      <dgm:prSet presAssocID="{F703450A-99D4-46E1-B246-71F81CF68438}" presName="compNode" presStyleCnt="0"/>
      <dgm:spPr/>
    </dgm:pt>
    <dgm:pt modelId="{EAA3639B-37A2-4BB5-B7EE-2A345CD4958C}" type="pres">
      <dgm:prSet presAssocID="{F703450A-99D4-46E1-B246-71F81CF6843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rou avec un remplissage uni"/>
        </a:ext>
      </dgm:extLst>
    </dgm:pt>
    <dgm:pt modelId="{0FCCD65E-270E-4C4F-9D81-207E9BA90106}" type="pres">
      <dgm:prSet presAssocID="{F703450A-99D4-46E1-B246-71F81CF68438}" presName="spaceRect" presStyleCnt="0"/>
      <dgm:spPr/>
    </dgm:pt>
    <dgm:pt modelId="{24D419BF-5215-4347-B700-3BF43D97F455}" type="pres">
      <dgm:prSet presAssocID="{F703450A-99D4-46E1-B246-71F81CF68438}" presName="textRect" presStyleLbl="revTx" presStyleIdx="1" presStyleCnt="2" custScaleX="134231">
        <dgm:presLayoutVars>
          <dgm:chMax val="1"/>
          <dgm:chPref val="1"/>
        </dgm:presLayoutVars>
      </dgm:prSet>
      <dgm:spPr/>
    </dgm:pt>
  </dgm:ptLst>
  <dgm:cxnLst>
    <dgm:cxn modelId="{8EFEEE15-B040-4C42-8435-F6E500AC1A3F}" srcId="{400091D7-A2DE-4B9D-9B03-7DFB4F7F9CF3}" destId="{1E84D8FC-E4CF-48F6-BC4B-0A3FD0C20C41}" srcOrd="0" destOrd="0" parTransId="{58C44E07-6476-46F4-A3CC-530C8AC7CCAC}" sibTransId="{141EB6B9-D243-4047-8162-046194FE0DCC}"/>
    <dgm:cxn modelId="{8C651C82-D8D1-448F-ACA8-9CE0D3DD3B4C}" type="presOf" srcId="{F703450A-99D4-46E1-B246-71F81CF68438}" destId="{24D419BF-5215-4347-B700-3BF43D97F455}" srcOrd="0" destOrd="0" presId="urn:microsoft.com/office/officeart/2018/2/layout/IconLabelList"/>
    <dgm:cxn modelId="{760E9E8D-DE84-4FBB-AF57-96EC6E40C42D}" type="presOf" srcId="{400091D7-A2DE-4B9D-9B03-7DFB4F7F9CF3}" destId="{981EFC08-7927-4788-BBCB-C4008D4FE20B}" srcOrd="0" destOrd="0" presId="urn:microsoft.com/office/officeart/2018/2/layout/IconLabelList"/>
    <dgm:cxn modelId="{CCC38E99-D9A9-420D-9075-3A0CC6D46894}" srcId="{400091D7-A2DE-4B9D-9B03-7DFB4F7F9CF3}" destId="{F703450A-99D4-46E1-B246-71F81CF68438}" srcOrd="1" destOrd="0" parTransId="{7C92A035-6300-4CA5-A52E-E3FCE9E2363B}" sibTransId="{0C221E0F-D2C5-44B6-96E3-CB9DB07CFE08}"/>
    <dgm:cxn modelId="{34CEBBA8-F562-41A9-8E1B-678DBB225B48}" type="presOf" srcId="{1E84D8FC-E4CF-48F6-BC4B-0A3FD0C20C41}" destId="{4AE7470A-2352-499B-B3C3-9A196F8ECAC7}" srcOrd="0" destOrd="0" presId="urn:microsoft.com/office/officeart/2018/2/layout/IconLabelList"/>
    <dgm:cxn modelId="{CC7863A2-1950-4DD0-8C4D-9B9354FC3EF1}" type="presParOf" srcId="{981EFC08-7927-4788-BBCB-C4008D4FE20B}" destId="{FA2A0B2A-83E4-4C66-94C4-0C71A2441D44}" srcOrd="0" destOrd="0" presId="urn:microsoft.com/office/officeart/2018/2/layout/IconLabelList"/>
    <dgm:cxn modelId="{0A8ADE48-6266-48B9-A2EB-BA1A2C9AD4C4}" type="presParOf" srcId="{FA2A0B2A-83E4-4C66-94C4-0C71A2441D44}" destId="{0A9BED13-B6E9-4EE8-8F3B-BEA62D419C35}" srcOrd="0" destOrd="0" presId="urn:microsoft.com/office/officeart/2018/2/layout/IconLabelList"/>
    <dgm:cxn modelId="{63FD6E01-9AD3-4782-A8E4-AD4C281E6590}" type="presParOf" srcId="{FA2A0B2A-83E4-4C66-94C4-0C71A2441D44}" destId="{8FE7659E-70A4-4432-BB87-081F8CF6849A}" srcOrd="1" destOrd="0" presId="urn:microsoft.com/office/officeart/2018/2/layout/IconLabelList"/>
    <dgm:cxn modelId="{0AF53ED5-AFFA-47AD-A945-085B764BBCD6}" type="presParOf" srcId="{FA2A0B2A-83E4-4C66-94C4-0C71A2441D44}" destId="{4AE7470A-2352-499B-B3C3-9A196F8ECAC7}" srcOrd="2" destOrd="0" presId="urn:microsoft.com/office/officeart/2018/2/layout/IconLabelList"/>
    <dgm:cxn modelId="{D8AA808B-A0EC-4521-BC58-229F6A4E5562}" type="presParOf" srcId="{981EFC08-7927-4788-BBCB-C4008D4FE20B}" destId="{43D0342B-85C5-47B8-8561-7B998CD4D7EC}" srcOrd="1" destOrd="0" presId="urn:microsoft.com/office/officeart/2018/2/layout/IconLabelList"/>
    <dgm:cxn modelId="{834F41A1-7910-4CC1-B604-9B11608A89FE}" type="presParOf" srcId="{981EFC08-7927-4788-BBCB-C4008D4FE20B}" destId="{26E10EE4-E3E5-4261-BE42-C78BCD2B9DED}" srcOrd="2" destOrd="0" presId="urn:microsoft.com/office/officeart/2018/2/layout/IconLabelList"/>
    <dgm:cxn modelId="{16CBAC5C-6B9C-4199-A0CC-2AFC2971B9A4}" type="presParOf" srcId="{26E10EE4-E3E5-4261-BE42-C78BCD2B9DED}" destId="{EAA3639B-37A2-4BB5-B7EE-2A345CD4958C}" srcOrd="0" destOrd="0" presId="urn:microsoft.com/office/officeart/2018/2/layout/IconLabelList"/>
    <dgm:cxn modelId="{9B166A99-39AD-4280-AC50-5733AB42BECE}" type="presParOf" srcId="{26E10EE4-E3E5-4261-BE42-C78BCD2B9DED}" destId="{0FCCD65E-270E-4C4F-9D81-207E9BA90106}" srcOrd="1" destOrd="0" presId="urn:microsoft.com/office/officeart/2018/2/layout/IconLabelList"/>
    <dgm:cxn modelId="{8FA8C14A-AC90-4755-9C01-0D2A6E5BA34B}" type="presParOf" srcId="{26E10EE4-E3E5-4261-BE42-C78BCD2B9DED}" destId="{24D419BF-5215-4347-B700-3BF43D97F45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0091D7-A2DE-4B9D-9B03-7DFB4F7F9CF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84D8FC-E4CF-48F6-BC4B-0A3FD0C20C41}">
      <dgm:prSet custT="1"/>
      <dgm:spPr/>
      <dgm:t>
        <a:bodyPr anchor="ctr"/>
        <a:lstStyle/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Based on Modular Lattices</a:t>
          </a:r>
        </a:p>
        <a:p>
          <a:pPr>
            <a:lnSpc>
              <a:spcPct val="100000"/>
            </a:lnSpc>
          </a:pPr>
          <a:r>
            <a:rPr lang="en-US" sz="2000" b="0" noProof="0" dirty="0">
              <a:latin typeface="Garamond" panose="02020404030301010803" pitchFamily="18" charset="0"/>
            </a:rPr>
            <a:t>Extension of CRYSTALS-</a:t>
          </a:r>
          <a:r>
            <a:rPr lang="en-US" sz="2000" b="0" noProof="0" dirty="0" err="1">
              <a:latin typeface="Garamond" panose="02020404030301010803" pitchFamily="18" charset="0"/>
            </a:rPr>
            <a:t>Dilithium</a:t>
          </a:r>
          <a:r>
            <a:rPr lang="en-US" sz="2000" b="0" noProof="0" dirty="0">
              <a:latin typeface="Garamond" panose="02020404030301010803" pitchFamily="18" charset="0"/>
            </a:rPr>
            <a:t> </a:t>
          </a:r>
        </a:p>
      </dgm:t>
    </dgm:pt>
    <dgm:pt modelId="{58C44E07-6476-46F4-A3CC-530C8AC7CCAC}" type="parTrans" cxnId="{8EFEEE15-B040-4C42-8435-F6E500AC1A3F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141EB6B9-D243-4047-8162-046194FE0DCC}" type="sibTrans" cxnId="{8EFEEE15-B040-4C42-8435-F6E500AC1A3F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F703450A-99D4-46E1-B246-71F81CF68438}">
      <dgm:prSet custT="1"/>
      <dgm:spPr/>
      <dgm:t>
        <a:bodyPr anchor="ctr"/>
        <a:lstStyle/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Security relies on</a:t>
          </a:r>
        </a:p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Hard Modular lattice problems</a:t>
          </a:r>
          <a:endParaRPr lang="en-US" sz="1600" noProof="0" dirty="0">
            <a:latin typeface="Garamond" panose="02020404030301010803" pitchFamily="18" charset="0"/>
          </a:endParaRPr>
        </a:p>
      </dgm:t>
    </dgm:pt>
    <dgm:pt modelId="{7C92A035-6300-4CA5-A52E-E3FCE9E2363B}" type="parTrans" cxnId="{CCC38E99-D9A9-420D-9075-3A0CC6D46894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0C221E0F-D2C5-44B6-96E3-CB9DB07CFE08}" type="sibTrans" cxnId="{CCC38E99-D9A9-420D-9075-3A0CC6D46894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981EFC08-7927-4788-BBCB-C4008D4FE20B}" type="pres">
      <dgm:prSet presAssocID="{400091D7-A2DE-4B9D-9B03-7DFB4F7F9CF3}" presName="root" presStyleCnt="0">
        <dgm:presLayoutVars>
          <dgm:dir/>
          <dgm:resizeHandles val="exact"/>
        </dgm:presLayoutVars>
      </dgm:prSet>
      <dgm:spPr/>
    </dgm:pt>
    <dgm:pt modelId="{FA2A0B2A-83E4-4C66-94C4-0C71A2441D44}" type="pres">
      <dgm:prSet presAssocID="{1E84D8FC-E4CF-48F6-BC4B-0A3FD0C20C41}" presName="compNode" presStyleCnt="0"/>
      <dgm:spPr/>
    </dgm:pt>
    <dgm:pt modelId="{0A9BED13-B6E9-4EE8-8F3B-BEA62D419C35}" type="pres">
      <dgm:prSet presAssocID="{1E84D8FC-E4CF-48F6-BC4B-0A3FD0C20C4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ématiques avec un remplissage uni"/>
        </a:ext>
      </dgm:extLst>
    </dgm:pt>
    <dgm:pt modelId="{8FE7659E-70A4-4432-BB87-081F8CF6849A}" type="pres">
      <dgm:prSet presAssocID="{1E84D8FC-E4CF-48F6-BC4B-0A3FD0C20C41}" presName="spaceRect" presStyleCnt="0"/>
      <dgm:spPr/>
    </dgm:pt>
    <dgm:pt modelId="{4AE7470A-2352-499B-B3C3-9A196F8ECAC7}" type="pres">
      <dgm:prSet presAssocID="{1E84D8FC-E4CF-48F6-BC4B-0A3FD0C20C41}" presName="textRect" presStyleLbl="revTx" presStyleIdx="0" presStyleCnt="2" custScaleX="143808">
        <dgm:presLayoutVars>
          <dgm:chMax val="1"/>
          <dgm:chPref val="1"/>
        </dgm:presLayoutVars>
      </dgm:prSet>
      <dgm:spPr/>
    </dgm:pt>
    <dgm:pt modelId="{43D0342B-85C5-47B8-8561-7B998CD4D7EC}" type="pres">
      <dgm:prSet presAssocID="{141EB6B9-D243-4047-8162-046194FE0DCC}" presName="sibTrans" presStyleCnt="0"/>
      <dgm:spPr/>
    </dgm:pt>
    <dgm:pt modelId="{26E10EE4-E3E5-4261-BE42-C78BCD2B9DED}" type="pres">
      <dgm:prSet presAssocID="{F703450A-99D4-46E1-B246-71F81CF68438}" presName="compNode" presStyleCnt="0"/>
      <dgm:spPr/>
    </dgm:pt>
    <dgm:pt modelId="{EAA3639B-37A2-4BB5-B7EE-2A345CD4958C}" type="pres">
      <dgm:prSet presAssocID="{F703450A-99D4-46E1-B246-71F81CF6843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rou avec un remplissage uni"/>
        </a:ext>
      </dgm:extLst>
    </dgm:pt>
    <dgm:pt modelId="{0FCCD65E-270E-4C4F-9D81-207E9BA90106}" type="pres">
      <dgm:prSet presAssocID="{F703450A-99D4-46E1-B246-71F81CF68438}" presName="spaceRect" presStyleCnt="0"/>
      <dgm:spPr/>
    </dgm:pt>
    <dgm:pt modelId="{24D419BF-5215-4347-B700-3BF43D97F455}" type="pres">
      <dgm:prSet presAssocID="{F703450A-99D4-46E1-B246-71F81CF68438}" presName="textRect" presStyleLbl="revTx" presStyleIdx="1" presStyleCnt="2" custScaleX="134231">
        <dgm:presLayoutVars>
          <dgm:chMax val="1"/>
          <dgm:chPref val="1"/>
        </dgm:presLayoutVars>
      </dgm:prSet>
      <dgm:spPr/>
    </dgm:pt>
  </dgm:ptLst>
  <dgm:cxnLst>
    <dgm:cxn modelId="{8EFEEE15-B040-4C42-8435-F6E500AC1A3F}" srcId="{400091D7-A2DE-4B9D-9B03-7DFB4F7F9CF3}" destId="{1E84D8FC-E4CF-48F6-BC4B-0A3FD0C20C41}" srcOrd="0" destOrd="0" parTransId="{58C44E07-6476-46F4-A3CC-530C8AC7CCAC}" sibTransId="{141EB6B9-D243-4047-8162-046194FE0DCC}"/>
    <dgm:cxn modelId="{8C651C82-D8D1-448F-ACA8-9CE0D3DD3B4C}" type="presOf" srcId="{F703450A-99D4-46E1-B246-71F81CF68438}" destId="{24D419BF-5215-4347-B700-3BF43D97F455}" srcOrd="0" destOrd="0" presId="urn:microsoft.com/office/officeart/2018/2/layout/IconLabelList"/>
    <dgm:cxn modelId="{760E9E8D-DE84-4FBB-AF57-96EC6E40C42D}" type="presOf" srcId="{400091D7-A2DE-4B9D-9B03-7DFB4F7F9CF3}" destId="{981EFC08-7927-4788-BBCB-C4008D4FE20B}" srcOrd="0" destOrd="0" presId="urn:microsoft.com/office/officeart/2018/2/layout/IconLabelList"/>
    <dgm:cxn modelId="{CCC38E99-D9A9-420D-9075-3A0CC6D46894}" srcId="{400091D7-A2DE-4B9D-9B03-7DFB4F7F9CF3}" destId="{F703450A-99D4-46E1-B246-71F81CF68438}" srcOrd="1" destOrd="0" parTransId="{7C92A035-6300-4CA5-A52E-E3FCE9E2363B}" sibTransId="{0C221E0F-D2C5-44B6-96E3-CB9DB07CFE08}"/>
    <dgm:cxn modelId="{34CEBBA8-F562-41A9-8E1B-678DBB225B48}" type="presOf" srcId="{1E84D8FC-E4CF-48F6-BC4B-0A3FD0C20C41}" destId="{4AE7470A-2352-499B-B3C3-9A196F8ECAC7}" srcOrd="0" destOrd="0" presId="urn:microsoft.com/office/officeart/2018/2/layout/IconLabelList"/>
    <dgm:cxn modelId="{CC7863A2-1950-4DD0-8C4D-9B9354FC3EF1}" type="presParOf" srcId="{981EFC08-7927-4788-BBCB-C4008D4FE20B}" destId="{FA2A0B2A-83E4-4C66-94C4-0C71A2441D44}" srcOrd="0" destOrd="0" presId="urn:microsoft.com/office/officeart/2018/2/layout/IconLabelList"/>
    <dgm:cxn modelId="{0A8ADE48-6266-48B9-A2EB-BA1A2C9AD4C4}" type="presParOf" srcId="{FA2A0B2A-83E4-4C66-94C4-0C71A2441D44}" destId="{0A9BED13-B6E9-4EE8-8F3B-BEA62D419C35}" srcOrd="0" destOrd="0" presId="urn:microsoft.com/office/officeart/2018/2/layout/IconLabelList"/>
    <dgm:cxn modelId="{63FD6E01-9AD3-4782-A8E4-AD4C281E6590}" type="presParOf" srcId="{FA2A0B2A-83E4-4C66-94C4-0C71A2441D44}" destId="{8FE7659E-70A4-4432-BB87-081F8CF6849A}" srcOrd="1" destOrd="0" presId="urn:microsoft.com/office/officeart/2018/2/layout/IconLabelList"/>
    <dgm:cxn modelId="{0AF53ED5-AFFA-47AD-A945-085B764BBCD6}" type="presParOf" srcId="{FA2A0B2A-83E4-4C66-94C4-0C71A2441D44}" destId="{4AE7470A-2352-499B-B3C3-9A196F8ECAC7}" srcOrd="2" destOrd="0" presId="urn:microsoft.com/office/officeart/2018/2/layout/IconLabelList"/>
    <dgm:cxn modelId="{D8AA808B-A0EC-4521-BC58-229F6A4E5562}" type="presParOf" srcId="{981EFC08-7927-4788-BBCB-C4008D4FE20B}" destId="{43D0342B-85C5-47B8-8561-7B998CD4D7EC}" srcOrd="1" destOrd="0" presId="urn:microsoft.com/office/officeart/2018/2/layout/IconLabelList"/>
    <dgm:cxn modelId="{834F41A1-7910-4CC1-B604-9B11608A89FE}" type="presParOf" srcId="{981EFC08-7927-4788-BBCB-C4008D4FE20B}" destId="{26E10EE4-E3E5-4261-BE42-C78BCD2B9DED}" srcOrd="2" destOrd="0" presId="urn:microsoft.com/office/officeart/2018/2/layout/IconLabelList"/>
    <dgm:cxn modelId="{16CBAC5C-6B9C-4199-A0CC-2AFC2971B9A4}" type="presParOf" srcId="{26E10EE4-E3E5-4261-BE42-C78BCD2B9DED}" destId="{EAA3639B-37A2-4BB5-B7EE-2A345CD4958C}" srcOrd="0" destOrd="0" presId="urn:microsoft.com/office/officeart/2018/2/layout/IconLabelList"/>
    <dgm:cxn modelId="{9B166A99-39AD-4280-AC50-5733AB42BECE}" type="presParOf" srcId="{26E10EE4-E3E5-4261-BE42-C78BCD2B9DED}" destId="{0FCCD65E-270E-4C4F-9D81-207E9BA90106}" srcOrd="1" destOrd="0" presId="urn:microsoft.com/office/officeart/2018/2/layout/IconLabelList"/>
    <dgm:cxn modelId="{8FA8C14A-AC90-4755-9C01-0D2A6E5BA34B}" type="presParOf" srcId="{26E10EE4-E3E5-4261-BE42-C78BCD2B9DED}" destId="{24D419BF-5215-4347-B700-3BF43D97F45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EFE88E-B005-4D24-B99A-2C787D35E30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7E4A01-CC68-4B7F-983C-D290C8F98D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noProof="0" dirty="0">
              <a:latin typeface="Garamond" panose="02020404030301010803" pitchFamily="18" charset="0"/>
            </a:rPr>
            <a:t>Facilitate technical integration</a:t>
          </a:r>
        </a:p>
      </dgm:t>
    </dgm:pt>
    <dgm:pt modelId="{48971D79-2281-44BC-B096-F5A8F237D7CD}" type="parTrans" cxnId="{DE02E775-D086-44D9-BC47-5945CADEA106}">
      <dgm:prSet/>
      <dgm:spPr/>
      <dgm:t>
        <a:bodyPr/>
        <a:lstStyle/>
        <a:p>
          <a:endParaRPr lang="en-US"/>
        </a:p>
      </dgm:t>
    </dgm:pt>
    <dgm:pt modelId="{F41DC3D3-F9EF-4791-962F-911DBED41009}" type="sibTrans" cxnId="{DE02E775-D086-44D9-BC47-5945CADEA106}">
      <dgm:prSet/>
      <dgm:spPr/>
      <dgm:t>
        <a:bodyPr/>
        <a:lstStyle/>
        <a:p>
          <a:endParaRPr lang="en-US"/>
        </a:p>
      </dgm:t>
    </dgm:pt>
    <dgm:pt modelId="{DBF9E070-AF57-43F0-906B-54764ED107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noProof="0" dirty="0">
              <a:latin typeface="Garamond" panose="02020404030301010803" pitchFamily="18" charset="0"/>
            </a:rPr>
            <a:t>Manage</a:t>
          </a:r>
          <a:r>
            <a:rPr lang="en-US" sz="2000" baseline="0" noProof="0" dirty="0">
              <a:latin typeface="Garamond" panose="02020404030301010803" pitchFamily="18" charset="0"/>
            </a:rPr>
            <a:t> change</a:t>
          </a:r>
          <a:endParaRPr lang="en-US" sz="2000" noProof="0" dirty="0">
            <a:latin typeface="Garamond" panose="02020404030301010803" pitchFamily="18" charset="0"/>
          </a:endParaRPr>
        </a:p>
      </dgm:t>
    </dgm:pt>
    <dgm:pt modelId="{3A5DBF2A-2F4B-40F5-8E87-B8E614E4A57F}" type="parTrans" cxnId="{3930962D-81E8-4F22-9580-0F96EF8F6CCC}">
      <dgm:prSet/>
      <dgm:spPr/>
      <dgm:t>
        <a:bodyPr/>
        <a:lstStyle/>
        <a:p>
          <a:endParaRPr lang="en-US"/>
        </a:p>
      </dgm:t>
    </dgm:pt>
    <dgm:pt modelId="{2E5A47B1-F453-420B-9FC4-417E78125A9D}" type="sibTrans" cxnId="{3930962D-81E8-4F22-9580-0F96EF8F6CCC}">
      <dgm:prSet/>
      <dgm:spPr/>
      <dgm:t>
        <a:bodyPr/>
        <a:lstStyle/>
        <a:p>
          <a:endParaRPr lang="en-US"/>
        </a:p>
      </dgm:t>
    </dgm:pt>
    <dgm:pt modelId="{9CE49452-A34D-4DF8-8E0C-DFA905C292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noProof="0" dirty="0">
              <a:latin typeface="Garamond" panose="02020404030301010803" pitchFamily="18" charset="0"/>
            </a:rPr>
            <a:t>Enable user adoption</a:t>
          </a:r>
        </a:p>
      </dgm:t>
    </dgm:pt>
    <dgm:pt modelId="{73DB603B-CAF9-4B84-97B3-A65AC1AA3082}" type="parTrans" cxnId="{4F3D0388-8C10-42D8-9261-6523BF4608E7}">
      <dgm:prSet/>
      <dgm:spPr/>
      <dgm:t>
        <a:bodyPr/>
        <a:lstStyle/>
        <a:p>
          <a:endParaRPr lang="en-US"/>
        </a:p>
      </dgm:t>
    </dgm:pt>
    <dgm:pt modelId="{85067D04-960E-41EA-9FEA-79DA35D4698C}" type="sibTrans" cxnId="{4F3D0388-8C10-42D8-9261-6523BF4608E7}">
      <dgm:prSet/>
      <dgm:spPr/>
      <dgm:t>
        <a:bodyPr/>
        <a:lstStyle/>
        <a:p>
          <a:endParaRPr lang="en-US"/>
        </a:p>
      </dgm:t>
    </dgm:pt>
    <dgm:pt modelId="{CA09E234-6A20-44AD-A19E-AE8A1CF721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noProof="0" dirty="0">
              <a:latin typeface="Garamond" panose="02020404030301010803" pitchFamily="18" charset="0"/>
            </a:rPr>
            <a:t>Renew trust</a:t>
          </a:r>
        </a:p>
      </dgm:t>
    </dgm:pt>
    <dgm:pt modelId="{A7509DE9-D3DA-4C2D-AF7B-DD78C93A3208}" type="parTrans" cxnId="{EEB7599B-CB12-400A-8851-6509CF569EEB}">
      <dgm:prSet/>
      <dgm:spPr/>
      <dgm:t>
        <a:bodyPr/>
        <a:lstStyle/>
        <a:p>
          <a:endParaRPr lang="en-US"/>
        </a:p>
      </dgm:t>
    </dgm:pt>
    <dgm:pt modelId="{F113A3F1-B273-49C5-8259-39B8C8D056AB}" type="sibTrans" cxnId="{EEB7599B-CB12-400A-8851-6509CF569EEB}">
      <dgm:prSet/>
      <dgm:spPr/>
      <dgm:t>
        <a:bodyPr/>
        <a:lstStyle/>
        <a:p>
          <a:endParaRPr lang="en-US"/>
        </a:p>
      </dgm:t>
    </dgm:pt>
    <dgm:pt modelId="{F617A8B9-4809-4AEC-94DA-795AA07475AF}" type="pres">
      <dgm:prSet presAssocID="{BEEFE88E-B005-4D24-B99A-2C787D35E30A}" presName="root" presStyleCnt="0">
        <dgm:presLayoutVars>
          <dgm:dir/>
          <dgm:resizeHandles val="exact"/>
        </dgm:presLayoutVars>
      </dgm:prSet>
      <dgm:spPr/>
    </dgm:pt>
    <dgm:pt modelId="{8F979681-D59A-4643-BF33-603252E89ABF}" type="pres">
      <dgm:prSet presAssocID="{F87E4A01-CC68-4B7F-983C-D290C8F98D65}" presName="compNode" presStyleCnt="0"/>
      <dgm:spPr/>
    </dgm:pt>
    <dgm:pt modelId="{F78A0FBD-BAE8-4DDF-9C56-9A7260080E1B}" type="pres">
      <dgm:prSet presAssocID="{F87E4A01-CC68-4B7F-983C-D290C8F98D6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 avec un remplissage uni"/>
        </a:ext>
      </dgm:extLst>
    </dgm:pt>
    <dgm:pt modelId="{7C5F04E3-85D6-4CE8-8E97-26B49552DA6C}" type="pres">
      <dgm:prSet presAssocID="{F87E4A01-CC68-4B7F-983C-D290C8F98D65}" presName="spaceRect" presStyleCnt="0"/>
      <dgm:spPr/>
    </dgm:pt>
    <dgm:pt modelId="{545032AB-7B56-4AD5-8A13-812249806055}" type="pres">
      <dgm:prSet presAssocID="{F87E4A01-CC68-4B7F-983C-D290C8F98D65}" presName="textRect" presStyleLbl="revTx" presStyleIdx="0" presStyleCnt="4">
        <dgm:presLayoutVars>
          <dgm:chMax val="1"/>
          <dgm:chPref val="1"/>
        </dgm:presLayoutVars>
      </dgm:prSet>
      <dgm:spPr/>
    </dgm:pt>
    <dgm:pt modelId="{6856770A-4DFD-499B-AC1D-BFD4F5276B4D}" type="pres">
      <dgm:prSet presAssocID="{F41DC3D3-F9EF-4791-962F-911DBED41009}" presName="sibTrans" presStyleCnt="0"/>
      <dgm:spPr/>
    </dgm:pt>
    <dgm:pt modelId="{14015893-E8C5-4385-A654-C67A308FE250}" type="pres">
      <dgm:prSet presAssocID="{DBF9E070-AF57-43F0-906B-54764ED107F6}" presName="compNode" presStyleCnt="0"/>
      <dgm:spPr/>
    </dgm:pt>
    <dgm:pt modelId="{BE1DFECD-59C8-45EF-A9D0-9F4380A5E985}" type="pres">
      <dgm:prSet presAssocID="{DBF9E070-AF57-43F0-906B-54764ED107F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èche en cercle avec un remplissage uni"/>
        </a:ext>
      </dgm:extLst>
    </dgm:pt>
    <dgm:pt modelId="{FDA5F2A5-3271-4B39-98F1-0D5CB95773C4}" type="pres">
      <dgm:prSet presAssocID="{DBF9E070-AF57-43F0-906B-54764ED107F6}" presName="spaceRect" presStyleCnt="0"/>
      <dgm:spPr/>
    </dgm:pt>
    <dgm:pt modelId="{2E6F488A-DD9E-4F67-839B-59D251FFD267}" type="pres">
      <dgm:prSet presAssocID="{DBF9E070-AF57-43F0-906B-54764ED107F6}" presName="textRect" presStyleLbl="revTx" presStyleIdx="1" presStyleCnt="4">
        <dgm:presLayoutVars>
          <dgm:chMax val="1"/>
          <dgm:chPref val="1"/>
        </dgm:presLayoutVars>
      </dgm:prSet>
      <dgm:spPr/>
    </dgm:pt>
    <dgm:pt modelId="{6680AE75-CA95-47BF-9164-B88FC4CC93F8}" type="pres">
      <dgm:prSet presAssocID="{2E5A47B1-F453-420B-9FC4-417E78125A9D}" presName="sibTrans" presStyleCnt="0"/>
      <dgm:spPr/>
    </dgm:pt>
    <dgm:pt modelId="{28491726-231D-47CE-A681-116EE898B3B5}" type="pres">
      <dgm:prSet presAssocID="{9CE49452-A34D-4DF8-8E0C-DFA905C292F2}" presName="compNode" presStyleCnt="0"/>
      <dgm:spPr/>
    </dgm:pt>
    <dgm:pt modelId="{F18EBD4D-6E5D-4CE1-8775-1B2481AD62FD}" type="pres">
      <dgm:prSet presAssocID="{9CE49452-A34D-4DF8-8E0C-DFA905C292F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66E6F4D6-4223-4D38-A647-F776CBFECB67}" type="pres">
      <dgm:prSet presAssocID="{9CE49452-A34D-4DF8-8E0C-DFA905C292F2}" presName="spaceRect" presStyleCnt="0"/>
      <dgm:spPr/>
    </dgm:pt>
    <dgm:pt modelId="{7AF8117E-6925-4AFD-BA0E-70372720C29B}" type="pres">
      <dgm:prSet presAssocID="{9CE49452-A34D-4DF8-8E0C-DFA905C292F2}" presName="textRect" presStyleLbl="revTx" presStyleIdx="2" presStyleCnt="4">
        <dgm:presLayoutVars>
          <dgm:chMax val="1"/>
          <dgm:chPref val="1"/>
        </dgm:presLayoutVars>
      </dgm:prSet>
      <dgm:spPr/>
    </dgm:pt>
    <dgm:pt modelId="{6B5D3434-1E90-466B-8E87-BF84A17AB757}" type="pres">
      <dgm:prSet presAssocID="{85067D04-960E-41EA-9FEA-79DA35D4698C}" presName="sibTrans" presStyleCnt="0"/>
      <dgm:spPr/>
    </dgm:pt>
    <dgm:pt modelId="{66A6ACC8-A3AB-4870-8D13-E94B853A057A}" type="pres">
      <dgm:prSet presAssocID="{CA09E234-6A20-44AD-A19E-AE8A1CF72105}" presName="compNode" presStyleCnt="0"/>
      <dgm:spPr/>
    </dgm:pt>
    <dgm:pt modelId="{B413A374-BEBC-4817-A5F8-37873D615DDA}" type="pres">
      <dgm:prSet presAssocID="{CA09E234-6A20-44AD-A19E-AE8A1CF7210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gnée de main avec un remplissage uni"/>
        </a:ext>
      </dgm:extLst>
    </dgm:pt>
    <dgm:pt modelId="{D4D6856D-4B50-4940-8936-2C2AC8273026}" type="pres">
      <dgm:prSet presAssocID="{CA09E234-6A20-44AD-A19E-AE8A1CF72105}" presName="spaceRect" presStyleCnt="0"/>
      <dgm:spPr/>
    </dgm:pt>
    <dgm:pt modelId="{873D55FD-0F95-479D-B2C7-279A123CF4D7}" type="pres">
      <dgm:prSet presAssocID="{CA09E234-6A20-44AD-A19E-AE8A1CF7210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30962D-81E8-4F22-9580-0F96EF8F6CCC}" srcId="{BEEFE88E-B005-4D24-B99A-2C787D35E30A}" destId="{DBF9E070-AF57-43F0-906B-54764ED107F6}" srcOrd="1" destOrd="0" parTransId="{3A5DBF2A-2F4B-40F5-8E87-B8E614E4A57F}" sibTransId="{2E5A47B1-F453-420B-9FC4-417E78125A9D}"/>
    <dgm:cxn modelId="{61F04068-594F-4F60-A80D-8247A887567B}" type="presOf" srcId="{F87E4A01-CC68-4B7F-983C-D290C8F98D65}" destId="{545032AB-7B56-4AD5-8A13-812249806055}" srcOrd="0" destOrd="0" presId="urn:microsoft.com/office/officeart/2018/2/layout/IconLabelList"/>
    <dgm:cxn modelId="{DE02E775-D086-44D9-BC47-5945CADEA106}" srcId="{BEEFE88E-B005-4D24-B99A-2C787D35E30A}" destId="{F87E4A01-CC68-4B7F-983C-D290C8F98D65}" srcOrd="0" destOrd="0" parTransId="{48971D79-2281-44BC-B096-F5A8F237D7CD}" sibTransId="{F41DC3D3-F9EF-4791-962F-911DBED41009}"/>
    <dgm:cxn modelId="{4F3D0388-8C10-42D8-9261-6523BF4608E7}" srcId="{BEEFE88E-B005-4D24-B99A-2C787D35E30A}" destId="{9CE49452-A34D-4DF8-8E0C-DFA905C292F2}" srcOrd="2" destOrd="0" parTransId="{73DB603B-CAF9-4B84-97B3-A65AC1AA3082}" sibTransId="{85067D04-960E-41EA-9FEA-79DA35D4698C}"/>
    <dgm:cxn modelId="{DF317A8E-D1A9-435B-90ED-3752577164A0}" type="presOf" srcId="{BEEFE88E-B005-4D24-B99A-2C787D35E30A}" destId="{F617A8B9-4809-4AEC-94DA-795AA07475AF}" srcOrd="0" destOrd="0" presId="urn:microsoft.com/office/officeart/2018/2/layout/IconLabelList"/>
    <dgm:cxn modelId="{0944AB9A-D765-4842-B9E5-C8DFD67166DF}" type="presOf" srcId="{DBF9E070-AF57-43F0-906B-54764ED107F6}" destId="{2E6F488A-DD9E-4F67-839B-59D251FFD267}" srcOrd="0" destOrd="0" presId="urn:microsoft.com/office/officeart/2018/2/layout/IconLabelList"/>
    <dgm:cxn modelId="{EEB7599B-CB12-400A-8851-6509CF569EEB}" srcId="{BEEFE88E-B005-4D24-B99A-2C787D35E30A}" destId="{CA09E234-6A20-44AD-A19E-AE8A1CF72105}" srcOrd="3" destOrd="0" parTransId="{A7509DE9-D3DA-4C2D-AF7B-DD78C93A3208}" sibTransId="{F113A3F1-B273-49C5-8259-39B8C8D056AB}"/>
    <dgm:cxn modelId="{B83549D7-EC79-465B-877F-6064B0237736}" type="presOf" srcId="{9CE49452-A34D-4DF8-8E0C-DFA905C292F2}" destId="{7AF8117E-6925-4AFD-BA0E-70372720C29B}" srcOrd="0" destOrd="0" presId="urn:microsoft.com/office/officeart/2018/2/layout/IconLabelList"/>
    <dgm:cxn modelId="{40BB9FDC-F9F3-4214-A27A-A63329DB3D15}" type="presOf" srcId="{CA09E234-6A20-44AD-A19E-AE8A1CF72105}" destId="{873D55FD-0F95-479D-B2C7-279A123CF4D7}" srcOrd="0" destOrd="0" presId="urn:microsoft.com/office/officeart/2018/2/layout/IconLabelList"/>
    <dgm:cxn modelId="{7FEE123F-3678-4B13-9AFF-7DC5A464093A}" type="presParOf" srcId="{F617A8B9-4809-4AEC-94DA-795AA07475AF}" destId="{8F979681-D59A-4643-BF33-603252E89ABF}" srcOrd="0" destOrd="0" presId="urn:microsoft.com/office/officeart/2018/2/layout/IconLabelList"/>
    <dgm:cxn modelId="{27131FA4-A6A7-4ED7-86F0-4D9B55F46106}" type="presParOf" srcId="{8F979681-D59A-4643-BF33-603252E89ABF}" destId="{F78A0FBD-BAE8-4DDF-9C56-9A7260080E1B}" srcOrd="0" destOrd="0" presId="urn:microsoft.com/office/officeart/2018/2/layout/IconLabelList"/>
    <dgm:cxn modelId="{33046407-94AD-40DF-940B-2E66123D85D6}" type="presParOf" srcId="{8F979681-D59A-4643-BF33-603252E89ABF}" destId="{7C5F04E3-85D6-4CE8-8E97-26B49552DA6C}" srcOrd="1" destOrd="0" presId="urn:microsoft.com/office/officeart/2018/2/layout/IconLabelList"/>
    <dgm:cxn modelId="{E5D8F804-0EE9-4A34-A500-DFD216477A56}" type="presParOf" srcId="{8F979681-D59A-4643-BF33-603252E89ABF}" destId="{545032AB-7B56-4AD5-8A13-812249806055}" srcOrd="2" destOrd="0" presId="urn:microsoft.com/office/officeart/2018/2/layout/IconLabelList"/>
    <dgm:cxn modelId="{923BA356-59A5-466A-BCAE-0BD9573DC5BF}" type="presParOf" srcId="{F617A8B9-4809-4AEC-94DA-795AA07475AF}" destId="{6856770A-4DFD-499B-AC1D-BFD4F5276B4D}" srcOrd="1" destOrd="0" presId="urn:microsoft.com/office/officeart/2018/2/layout/IconLabelList"/>
    <dgm:cxn modelId="{1E3ED620-1222-4391-B100-E495E84191DF}" type="presParOf" srcId="{F617A8B9-4809-4AEC-94DA-795AA07475AF}" destId="{14015893-E8C5-4385-A654-C67A308FE250}" srcOrd="2" destOrd="0" presId="urn:microsoft.com/office/officeart/2018/2/layout/IconLabelList"/>
    <dgm:cxn modelId="{F9A636E1-B533-4C0B-ACF7-4362B5A6F9AD}" type="presParOf" srcId="{14015893-E8C5-4385-A654-C67A308FE250}" destId="{BE1DFECD-59C8-45EF-A9D0-9F4380A5E985}" srcOrd="0" destOrd="0" presId="urn:microsoft.com/office/officeart/2018/2/layout/IconLabelList"/>
    <dgm:cxn modelId="{7EFC41FF-FA00-4748-B1EB-354D5ADE8954}" type="presParOf" srcId="{14015893-E8C5-4385-A654-C67A308FE250}" destId="{FDA5F2A5-3271-4B39-98F1-0D5CB95773C4}" srcOrd="1" destOrd="0" presId="urn:microsoft.com/office/officeart/2018/2/layout/IconLabelList"/>
    <dgm:cxn modelId="{8E6386DB-F878-4748-AFCE-ED693FA453D7}" type="presParOf" srcId="{14015893-E8C5-4385-A654-C67A308FE250}" destId="{2E6F488A-DD9E-4F67-839B-59D251FFD267}" srcOrd="2" destOrd="0" presId="urn:microsoft.com/office/officeart/2018/2/layout/IconLabelList"/>
    <dgm:cxn modelId="{49BEAE3F-0AEE-44F7-98C4-8A08BF8CC16C}" type="presParOf" srcId="{F617A8B9-4809-4AEC-94DA-795AA07475AF}" destId="{6680AE75-CA95-47BF-9164-B88FC4CC93F8}" srcOrd="3" destOrd="0" presId="urn:microsoft.com/office/officeart/2018/2/layout/IconLabelList"/>
    <dgm:cxn modelId="{BFF2453C-F2A6-48C1-A5B4-AE2A51D2C794}" type="presParOf" srcId="{F617A8B9-4809-4AEC-94DA-795AA07475AF}" destId="{28491726-231D-47CE-A681-116EE898B3B5}" srcOrd="4" destOrd="0" presId="urn:microsoft.com/office/officeart/2018/2/layout/IconLabelList"/>
    <dgm:cxn modelId="{D74753C2-72A9-4097-928D-CA037C1411A4}" type="presParOf" srcId="{28491726-231D-47CE-A681-116EE898B3B5}" destId="{F18EBD4D-6E5D-4CE1-8775-1B2481AD62FD}" srcOrd="0" destOrd="0" presId="urn:microsoft.com/office/officeart/2018/2/layout/IconLabelList"/>
    <dgm:cxn modelId="{60E111BC-C261-41FA-A30E-37A70499DDD2}" type="presParOf" srcId="{28491726-231D-47CE-A681-116EE898B3B5}" destId="{66E6F4D6-4223-4D38-A647-F776CBFECB67}" srcOrd="1" destOrd="0" presId="urn:microsoft.com/office/officeart/2018/2/layout/IconLabelList"/>
    <dgm:cxn modelId="{49E7664C-CA32-44CD-BE6D-778EC63B45A3}" type="presParOf" srcId="{28491726-231D-47CE-A681-116EE898B3B5}" destId="{7AF8117E-6925-4AFD-BA0E-70372720C29B}" srcOrd="2" destOrd="0" presId="urn:microsoft.com/office/officeart/2018/2/layout/IconLabelList"/>
    <dgm:cxn modelId="{5B7EE089-4E53-483B-95D2-68279D45835B}" type="presParOf" srcId="{F617A8B9-4809-4AEC-94DA-795AA07475AF}" destId="{6B5D3434-1E90-466B-8E87-BF84A17AB757}" srcOrd="5" destOrd="0" presId="urn:microsoft.com/office/officeart/2018/2/layout/IconLabelList"/>
    <dgm:cxn modelId="{CDA4278E-D94C-49AD-B132-EF4123BD271B}" type="presParOf" srcId="{F617A8B9-4809-4AEC-94DA-795AA07475AF}" destId="{66A6ACC8-A3AB-4870-8D13-E94B853A057A}" srcOrd="6" destOrd="0" presId="urn:microsoft.com/office/officeart/2018/2/layout/IconLabelList"/>
    <dgm:cxn modelId="{93CA0B9F-EB70-4680-B9FA-E75EC95E4094}" type="presParOf" srcId="{66A6ACC8-A3AB-4870-8D13-E94B853A057A}" destId="{B413A374-BEBC-4817-A5F8-37873D615DDA}" srcOrd="0" destOrd="0" presId="urn:microsoft.com/office/officeart/2018/2/layout/IconLabelList"/>
    <dgm:cxn modelId="{3EBE927F-1C2F-45D2-896E-D73970D96F42}" type="presParOf" srcId="{66A6ACC8-A3AB-4870-8D13-E94B853A057A}" destId="{D4D6856D-4B50-4940-8936-2C2AC8273026}" srcOrd="1" destOrd="0" presId="urn:microsoft.com/office/officeart/2018/2/layout/IconLabelList"/>
    <dgm:cxn modelId="{6800A9C8-76AE-4833-9573-8CCECA019314}" type="presParOf" srcId="{66A6ACC8-A3AB-4870-8D13-E94B853A057A}" destId="{873D55FD-0F95-479D-B2C7-279A123CF4D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EFE88E-B005-4D24-B99A-2C787D35E30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7E4A01-CC68-4B7F-983C-D290C8F98D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noProof="0" dirty="0">
              <a:latin typeface="Garamond" panose="02020404030301010803" pitchFamily="18" charset="0"/>
            </a:rPr>
            <a:t>Already used and trusted packages</a:t>
          </a:r>
        </a:p>
      </dgm:t>
    </dgm:pt>
    <dgm:pt modelId="{48971D79-2281-44BC-B096-F5A8F237D7CD}" type="parTrans" cxnId="{DE02E775-D086-44D9-BC47-5945CADEA106}">
      <dgm:prSet/>
      <dgm:spPr/>
      <dgm:t>
        <a:bodyPr/>
        <a:lstStyle/>
        <a:p>
          <a:endParaRPr lang="en-US"/>
        </a:p>
      </dgm:t>
    </dgm:pt>
    <dgm:pt modelId="{F41DC3D3-F9EF-4791-962F-911DBED41009}" type="sibTrans" cxnId="{DE02E775-D086-44D9-BC47-5945CADEA106}">
      <dgm:prSet/>
      <dgm:spPr/>
      <dgm:t>
        <a:bodyPr/>
        <a:lstStyle/>
        <a:p>
          <a:endParaRPr lang="en-US"/>
        </a:p>
      </dgm:t>
    </dgm:pt>
    <dgm:pt modelId="{DBF9E070-AF57-43F0-906B-54764ED107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noProof="0" dirty="0">
              <a:latin typeface="Garamond" panose="02020404030301010803" pitchFamily="18" charset="0"/>
            </a:rPr>
            <a:t>Simplified yet representative ETH blockchain model</a:t>
          </a:r>
        </a:p>
      </dgm:t>
    </dgm:pt>
    <dgm:pt modelId="{3A5DBF2A-2F4B-40F5-8E87-B8E614E4A57F}" type="parTrans" cxnId="{3930962D-81E8-4F22-9580-0F96EF8F6CCC}">
      <dgm:prSet/>
      <dgm:spPr/>
      <dgm:t>
        <a:bodyPr/>
        <a:lstStyle/>
        <a:p>
          <a:endParaRPr lang="en-US"/>
        </a:p>
      </dgm:t>
    </dgm:pt>
    <dgm:pt modelId="{2E5A47B1-F453-420B-9FC4-417E78125A9D}" type="sibTrans" cxnId="{3930962D-81E8-4F22-9580-0F96EF8F6CCC}">
      <dgm:prSet/>
      <dgm:spPr/>
      <dgm:t>
        <a:bodyPr/>
        <a:lstStyle/>
        <a:p>
          <a:endParaRPr lang="en-US"/>
        </a:p>
      </dgm:t>
    </dgm:pt>
    <dgm:pt modelId="{9CE49452-A34D-4DF8-8E0C-DFA905C292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noProof="0" dirty="0">
              <a:latin typeface="Garamond" panose="02020404030301010803" pitchFamily="18" charset="0"/>
            </a:rPr>
            <a:t>Performance benchmarking and Gas cost estimation</a:t>
          </a:r>
        </a:p>
      </dgm:t>
    </dgm:pt>
    <dgm:pt modelId="{73DB603B-CAF9-4B84-97B3-A65AC1AA3082}" type="parTrans" cxnId="{4F3D0388-8C10-42D8-9261-6523BF4608E7}">
      <dgm:prSet/>
      <dgm:spPr/>
      <dgm:t>
        <a:bodyPr/>
        <a:lstStyle/>
        <a:p>
          <a:endParaRPr lang="en-US"/>
        </a:p>
      </dgm:t>
    </dgm:pt>
    <dgm:pt modelId="{85067D04-960E-41EA-9FEA-79DA35D4698C}" type="sibTrans" cxnId="{4F3D0388-8C10-42D8-9261-6523BF4608E7}">
      <dgm:prSet/>
      <dgm:spPr/>
      <dgm:t>
        <a:bodyPr/>
        <a:lstStyle/>
        <a:p>
          <a:endParaRPr lang="en-US"/>
        </a:p>
      </dgm:t>
    </dgm:pt>
    <dgm:pt modelId="{F617A8B9-4809-4AEC-94DA-795AA07475AF}" type="pres">
      <dgm:prSet presAssocID="{BEEFE88E-B005-4D24-B99A-2C787D35E30A}" presName="root" presStyleCnt="0">
        <dgm:presLayoutVars>
          <dgm:dir/>
          <dgm:resizeHandles val="exact"/>
        </dgm:presLayoutVars>
      </dgm:prSet>
      <dgm:spPr/>
    </dgm:pt>
    <dgm:pt modelId="{8F979681-D59A-4643-BF33-603252E89ABF}" type="pres">
      <dgm:prSet presAssocID="{F87E4A01-CC68-4B7F-983C-D290C8F98D65}" presName="compNode" presStyleCnt="0"/>
      <dgm:spPr/>
    </dgm:pt>
    <dgm:pt modelId="{F78A0FBD-BAE8-4DDF-9C56-9A7260080E1B}" type="pres">
      <dgm:prSet presAssocID="{F87E4A01-CC68-4B7F-983C-D290C8F98D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cran avec un remplissage uni"/>
        </a:ext>
      </dgm:extLst>
    </dgm:pt>
    <dgm:pt modelId="{7C5F04E3-85D6-4CE8-8E97-26B49552DA6C}" type="pres">
      <dgm:prSet presAssocID="{F87E4A01-CC68-4B7F-983C-D290C8F98D65}" presName="spaceRect" presStyleCnt="0"/>
      <dgm:spPr/>
    </dgm:pt>
    <dgm:pt modelId="{545032AB-7B56-4AD5-8A13-812249806055}" type="pres">
      <dgm:prSet presAssocID="{F87E4A01-CC68-4B7F-983C-D290C8F98D65}" presName="textRect" presStyleLbl="revTx" presStyleIdx="0" presStyleCnt="3">
        <dgm:presLayoutVars>
          <dgm:chMax val="1"/>
          <dgm:chPref val="1"/>
        </dgm:presLayoutVars>
      </dgm:prSet>
      <dgm:spPr/>
    </dgm:pt>
    <dgm:pt modelId="{6856770A-4DFD-499B-AC1D-BFD4F5276B4D}" type="pres">
      <dgm:prSet presAssocID="{F41DC3D3-F9EF-4791-962F-911DBED41009}" presName="sibTrans" presStyleCnt="0"/>
      <dgm:spPr/>
    </dgm:pt>
    <dgm:pt modelId="{14015893-E8C5-4385-A654-C67A308FE250}" type="pres">
      <dgm:prSet presAssocID="{DBF9E070-AF57-43F0-906B-54764ED107F6}" presName="compNode" presStyleCnt="0"/>
      <dgm:spPr/>
    </dgm:pt>
    <dgm:pt modelId="{BE1DFECD-59C8-45EF-A9D0-9F4380A5E985}" type="pres">
      <dgm:prSet presAssocID="{DBF9E070-AF57-43F0-906B-54764ED107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FDA5F2A5-3271-4B39-98F1-0D5CB95773C4}" type="pres">
      <dgm:prSet presAssocID="{DBF9E070-AF57-43F0-906B-54764ED107F6}" presName="spaceRect" presStyleCnt="0"/>
      <dgm:spPr/>
    </dgm:pt>
    <dgm:pt modelId="{2E6F488A-DD9E-4F67-839B-59D251FFD267}" type="pres">
      <dgm:prSet presAssocID="{DBF9E070-AF57-43F0-906B-54764ED107F6}" presName="textRect" presStyleLbl="revTx" presStyleIdx="1" presStyleCnt="3">
        <dgm:presLayoutVars>
          <dgm:chMax val="1"/>
          <dgm:chPref val="1"/>
        </dgm:presLayoutVars>
      </dgm:prSet>
      <dgm:spPr/>
    </dgm:pt>
    <dgm:pt modelId="{6680AE75-CA95-47BF-9164-B88FC4CC93F8}" type="pres">
      <dgm:prSet presAssocID="{2E5A47B1-F453-420B-9FC4-417E78125A9D}" presName="sibTrans" presStyleCnt="0"/>
      <dgm:spPr/>
    </dgm:pt>
    <dgm:pt modelId="{28491726-231D-47CE-A681-116EE898B3B5}" type="pres">
      <dgm:prSet presAssocID="{9CE49452-A34D-4DF8-8E0C-DFA905C292F2}" presName="compNode" presStyleCnt="0"/>
      <dgm:spPr/>
    </dgm:pt>
    <dgm:pt modelId="{F18EBD4D-6E5D-4CE1-8775-1B2481AD62FD}" type="pres">
      <dgm:prSet presAssocID="{9CE49452-A34D-4DF8-8E0C-DFA905C292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uge avec un remplissage uni"/>
        </a:ext>
      </dgm:extLst>
    </dgm:pt>
    <dgm:pt modelId="{66E6F4D6-4223-4D38-A647-F776CBFECB67}" type="pres">
      <dgm:prSet presAssocID="{9CE49452-A34D-4DF8-8E0C-DFA905C292F2}" presName="spaceRect" presStyleCnt="0"/>
      <dgm:spPr/>
    </dgm:pt>
    <dgm:pt modelId="{7AF8117E-6925-4AFD-BA0E-70372720C29B}" type="pres">
      <dgm:prSet presAssocID="{9CE49452-A34D-4DF8-8E0C-DFA905C292F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30962D-81E8-4F22-9580-0F96EF8F6CCC}" srcId="{BEEFE88E-B005-4D24-B99A-2C787D35E30A}" destId="{DBF9E070-AF57-43F0-906B-54764ED107F6}" srcOrd="1" destOrd="0" parTransId="{3A5DBF2A-2F4B-40F5-8E87-B8E614E4A57F}" sibTransId="{2E5A47B1-F453-420B-9FC4-417E78125A9D}"/>
    <dgm:cxn modelId="{61F04068-594F-4F60-A80D-8247A887567B}" type="presOf" srcId="{F87E4A01-CC68-4B7F-983C-D290C8F98D65}" destId="{545032AB-7B56-4AD5-8A13-812249806055}" srcOrd="0" destOrd="0" presId="urn:microsoft.com/office/officeart/2018/2/layout/IconLabelList"/>
    <dgm:cxn modelId="{DE02E775-D086-44D9-BC47-5945CADEA106}" srcId="{BEEFE88E-B005-4D24-B99A-2C787D35E30A}" destId="{F87E4A01-CC68-4B7F-983C-D290C8F98D65}" srcOrd="0" destOrd="0" parTransId="{48971D79-2281-44BC-B096-F5A8F237D7CD}" sibTransId="{F41DC3D3-F9EF-4791-962F-911DBED41009}"/>
    <dgm:cxn modelId="{4F3D0388-8C10-42D8-9261-6523BF4608E7}" srcId="{BEEFE88E-B005-4D24-B99A-2C787D35E30A}" destId="{9CE49452-A34D-4DF8-8E0C-DFA905C292F2}" srcOrd="2" destOrd="0" parTransId="{73DB603B-CAF9-4B84-97B3-A65AC1AA3082}" sibTransId="{85067D04-960E-41EA-9FEA-79DA35D4698C}"/>
    <dgm:cxn modelId="{DF317A8E-D1A9-435B-90ED-3752577164A0}" type="presOf" srcId="{BEEFE88E-B005-4D24-B99A-2C787D35E30A}" destId="{F617A8B9-4809-4AEC-94DA-795AA07475AF}" srcOrd="0" destOrd="0" presId="urn:microsoft.com/office/officeart/2018/2/layout/IconLabelList"/>
    <dgm:cxn modelId="{0944AB9A-D765-4842-B9E5-C8DFD67166DF}" type="presOf" srcId="{DBF9E070-AF57-43F0-906B-54764ED107F6}" destId="{2E6F488A-DD9E-4F67-839B-59D251FFD267}" srcOrd="0" destOrd="0" presId="urn:microsoft.com/office/officeart/2018/2/layout/IconLabelList"/>
    <dgm:cxn modelId="{B83549D7-EC79-465B-877F-6064B0237736}" type="presOf" srcId="{9CE49452-A34D-4DF8-8E0C-DFA905C292F2}" destId="{7AF8117E-6925-4AFD-BA0E-70372720C29B}" srcOrd="0" destOrd="0" presId="urn:microsoft.com/office/officeart/2018/2/layout/IconLabelList"/>
    <dgm:cxn modelId="{7FEE123F-3678-4B13-9AFF-7DC5A464093A}" type="presParOf" srcId="{F617A8B9-4809-4AEC-94DA-795AA07475AF}" destId="{8F979681-D59A-4643-BF33-603252E89ABF}" srcOrd="0" destOrd="0" presId="urn:microsoft.com/office/officeart/2018/2/layout/IconLabelList"/>
    <dgm:cxn modelId="{27131FA4-A6A7-4ED7-86F0-4D9B55F46106}" type="presParOf" srcId="{8F979681-D59A-4643-BF33-603252E89ABF}" destId="{F78A0FBD-BAE8-4DDF-9C56-9A7260080E1B}" srcOrd="0" destOrd="0" presId="urn:microsoft.com/office/officeart/2018/2/layout/IconLabelList"/>
    <dgm:cxn modelId="{33046407-94AD-40DF-940B-2E66123D85D6}" type="presParOf" srcId="{8F979681-D59A-4643-BF33-603252E89ABF}" destId="{7C5F04E3-85D6-4CE8-8E97-26B49552DA6C}" srcOrd="1" destOrd="0" presId="urn:microsoft.com/office/officeart/2018/2/layout/IconLabelList"/>
    <dgm:cxn modelId="{E5D8F804-0EE9-4A34-A500-DFD216477A56}" type="presParOf" srcId="{8F979681-D59A-4643-BF33-603252E89ABF}" destId="{545032AB-7B56-4AD5-8A13-812249806055}" srcOrd="2" destOrd="0" presId="urn:microsoft.com/office/officeart/2018/2/layout/IconLabelList"/>
    <dgm:cxn modelId="{923BA356-59A5-466A-BCAE-0BD9573DC5BF}" type="presParOf" srcId="{F617A8B9-4809-4AEC-94DA-795AA07475AF}" destId="{6856770A-4DFD-499B-AC1D-BFD4F5276B4D}" srcOrd="1" destOrd="0" presId="urn:microsoft.com/office/officeart/2018/2/layout/IconLabelList"/>
    <dgm:cxn modelId="{1E3ED620-1222-4391-B100-E495E84191DF}" type="presParOf" srcId="{F617A8B9-4809-4AEC-94DA-795AA07475AF}" destId="{14015893-E8C5-4385-A654-C67A308FE250}" srcOrd="2" destOrd="0" presId="urn:microsoft.com/office/officeart/2018/2/layout/IconLabelList"/>
    <dgm:cxn modelId="{F9A636E1-B533-4C0B-ACF7-4362B5A6F9AD}" type="presParOf" srcId="{14015893-E8C5-4385-A654-C67A308FE250}" destId="{BE1DFECD-59C8-45EF-A9D0-9F4380A5E985}" srcOrd="0" destOrd="0" presId="urn:microsoft.com/office/officeart/2018/2/layout/IconLabelList"/>
    <dgm:cxn modelId="{7EFC41FF-FA00-4748-B1EB-354D5ADE8954}" type="presParOf" srcId="{14015893-E8C5-4385-A654-C67A308FE250}" destId="{FDA5F2A5-3271-4B39-98F1-0D5CB95773C4}" srcOrd="1" destOrd="0" presId="urn:microsoft.com/office/officeart/2018/2/layout/IconLabelList"/>
    <dgm:cxn modelId="{8E6386DB-F878-4748-AFCE-ED693FA453D7}" type="presParOf" srcId="{14015893-E8C5-4385-A654-C67A308FE250}" destId="{2E6F488A-DD9E-4F67-839B-59D251FFD267}" srcOrd="2" destOrd="0" presId="urn:microsoft.com/office/officeart/2018/2/layout/IconLabelList"/>
    <dgm:cxn modelId="{49BEAE3F-0AEE-44F7-98C4-8A08BF8CC16C}" type="presParOf" srcId="{F617A8B9-4809-4AEC-94DA-795AA07475AF}" destId="{6680AE75-CA95-47BF-9164-B88FC4CC93F8}" srcOrd="3" destOrd="0" presId="urn:microsoft.com/office/officeart/2018/2/layout/IconLabelList"/>
    <dgm:cxn modelId="{BFF2453C-F2A6-48C1-A5B4-AE2A51D2C794}" type="presParOf" srcId="{F617A8B9-4809-4AEC-94DA-795AA07475AF}" destId="{28491726-231D-47CE-A681-116EE898B3B5}" srcOrd="4" destOrd="0" presId="urn:microsoft.com/office/officeart/2018/2/layout/IconLabelList"/>
    <dgm:cxn modelId="{D74753C2-72A9-4097-928D-CA037C1411A4}" type="presParOf" srcId="{28491726-231D-47CE-A681-116EE898B3B5}" destId="{F18EBD4D-6E5D-4CE1-8775-1B2481AD62FD}" srcOrd="0" destOrd="0" presId="urn:microsoft.com/office/officeart/2018/2/layout/IconLabelList"/>
    <dgm:cxn modelId="{60E111BC-C261-41FA-A30E-37A70499DDD2}" type="presParOf" srcId="{28491726-231D-47CE-A681-116EE898B3B5}" destId="{66E6F4D6-4223-4D38-A647-F776CBFECB67}" srcOrd="1" destOrd="0" presId="urn:microsoft.com/office/officeart/2018/2/layout/IconLabelList"/>
    <dgm:cxn modelId="{49E7664C-CA32-44CD-BE6D-778EC63B45A3}" type="presParOf" srcId="{28491726-231D-47CE-A681-116EE898B3B5}" destId="{7AF8117E-6925-4AFD-BA0E-70372720C29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EFE88E-B005-4D24-B99A-2C787D35E30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7E4A01-CC68-4B7F-983C-D290C8F98D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noProof="0" dirty="0">
              <a:latin typeface="Garamond" panose="02020404030301010803" pitchFamily="18" charset="0"/>
            </a:rPr>
            <a:t>Simulate the state of the blockchain at each phase</a:t>
          </a:r>
        </a:p>
      </dgm:t>
    </dgm:pt>
    <dgm:pt modelId="{48971D79-2281-44BC-B096-F5A8F237D7CD}" type="parTrans" cxnId="{DE02E775-D086-44D9-BC47-5945CADEA106}">
      <dgm:prSet/>
      <dgm:spPr/>
      <dgm:t>
        <a:bodyPr/>
        <a:lstStyle/>
        <a:p>
          <a:endParaRPr lang="en-US"/>
        </a:p>
      </dgm:t>
    </dgm:pt>
    <dgm:pt modelId="{F41DC3D3-F9EF-4791-962F-911DBED41009}" type="sibTrans" cxnId="{DE02E775-D086-44D9-BC47-5945CADEA106}">
      <dgm:prSet/>
      <dgm:spPr/>
      <dgm:t>
        <a:bodyPr/>
        <a:lstStyle/>
        <a:p>
          <a:endParaRPr lang="en-US"/>
        </a:p>
      </dgm:t>
    </dgm:pt>
    <dgm:pt modelId="{DBF9E070-AF57-43F0-906B-54764ED107F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noProof="0" dirty="0">
              <a:latin typeface="Garamond" panose="02020404030301010803" pitchFamily="18" charset="0"/>
            </a:rPr>
            <a:t>Measure </a:t>
          </a:r>
          <a:r>
            <a:rPr lang="en-US" sz="2000" noProof="0" dirty="0" err="1">
              <a:latin typeface="Garamond" panose="02020404030301010803" pitchFamily="18" charset="0"/>
            </a:rPr>
            <a:t>blocktime</a:t>
          </a:r>
          <a:r>
            <a:rPr lang="en-US" sz="2000" noProof="0" dirty="0">
              <a:latin typeface="Garamond" panose="02020404030301010803" pitchFamily="18" charset="0"/>
            </a:rPr>
            <a:t>, signature and verification time over 1000 blocks</a:t>
          </a:r>
        </a:p>
      </dgm:t>
    </dgm:pt>
    <dgm:pt modelId="{3A5DBF2A-2F4B-40F5-8E87-B8E614E4A57F}" type="parTrans" cxnId="{3930962D-81E8-4F22-9580-0F96EF8F6CCC}">
      <dgm:prSet/>
      <dgm:spPr/>
      <dgm:t>
        <a:bodyPr/>
        <a:lstStyle/>
        <a:p>
          <a:endParaRPr lang="en-US"/>
        </a:p>
      </dgm:t>
    </dgm:pt>
    <dgm:pt modelId="{2E5A47B1-F453-420B-9FC4-417E78125A9D}" type="sibTrans" cxnId="{3930962D-81E8-4F22-9580-0F96EF8F6CCC}">
      <dgm:prSet/>
      <dgm:spPr/>
      <dgm:t>
        <a:bodyPr/>
        <a:lstStyle/>
        <a:p>
          <a:endParaRPr lang="en-US"/>
        </a:p>
      </dgm:t>
    </dgm:pt>
    <dgm:pt modelId="{CA09E234-6A20-44AD-A19E-AE8A1CF721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noProof="0" dirty="0">
              <a:latin typeface="Garamond" panose="02020404030301010803" pitchFamily="18" charset="0"/>
            </a:rPr>
            <a:t>Quantum resistant PoW blockchains for comparison and insights</a:t>
          </a:r>
        </a:p>
      </dgm:t>
    </dgm:pt>
    <dgm:pt modelId="{A7509DE9-D3DA-4C2D-AF7B-DD78C93A3208}" type="parTrans" cxnId="{EEB7599B-CB12-400A-8851-6509CF569EEB}">
      <dgm:prSet/>
      <dgm:spPr/>
      <dgm:t>
        <a:bodyPr/>
        <a:lstStyle/>
        <a:p>
          <a:endParaRPr lang="en-US"/>
        </a:p>
      </dgm:t>
    </dgm:pt>
    <dgm:pt modelId="{F113A3F1-B273-49C5-8259-39B8C8D056AB}" type="sibTrans" cxnId="{EEB7599B-CB12-400A-8851-6509CF569EEB}">
      <dgm:prSet/>
      <dgm:spPr/>
      <dgm:t>
        <a:bodyPr/>
        <a:lstStyle/>
        <a:p>
          <a:endParaRPr lang="en-US"/>
        </a:p>
      </dgm:t>
    </dgm:pt>
    <dgm:pt modelId="{F617A8B9-4809-4AEC-94DA-795AA07475AF}" type="pres">
      <dgm:prSet presAssocID="{BEEFE88E-B005-4D24-B99A-2C787D35E30A}" presName="root" presStyleCnt="0">
        <dgm:presLayoutVars>
          <dgm:dir/>
          <dgm:resizeHandles val="exact"/>
        </dgm:presLayoutVars>
      </dgm:prSet>
      <dgm:spPr/>
    </dgm:pt>
    <dgm:pt modelId="{8F979681-D59A-4643-BF33-603252E89ABF}" type="pres">
      <dgm:prSet presAssocID="{F87E4A01-CC68-4B7F-983C-D290C8F98D65}" presName="compNode" presStyleCnt="0"/>
      <dgm:spPr/>
    </dgm:pt>
    <dgm:pt modelId="{F78A0FBD-BAE8-4DDF-9C56-9A7260080E1B}" type="pres">
      <dgm:prSet presAssocID="{F87E4A01-CC68-4B7F-983C-D290C8F98D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upe avec un remplissage uni"/>
        </a:ext>
      </dgm:extLst>
    </dgm:pt>
    <dgm:pt modelId="{7C5F04E3-85D6-4CE8-8E97-26B49552DA6C}" type="pres">
      <dgm:prSet presAssocID="{F87E4A01-CC68-4B7F-983C-D290C8F98D65}" presName="spaceRect" presStyleCnt="0"/>
      <dgm:spPr/>
    </dgm:pt>
    <dgm:pt modelId="{545032AB-7B56-4AD5-8A13-812249806055}" type="pres">
      <dgm:prSet presAssocID="{F87E4A01-CC68-4B7F-983C-D290C8F98D65}" presName="textRect" presStyleLbl="revTx" presStyleIdx="0" presStyleCnt="3">
        <dgm:presLayoutVars>
          <dgm:chMax val="1"/>
          <dgm:chPref val="1"/>
        </dgm:presLayoutVars>
      </dgm:prSet>
      <dgm:spPr/>
    </dgm:pt>
    <dgm:pt modelId="{6856770A-4DFD-499B-AC1D-BFD4F5276B4D}" type="pres">
      <dgm:prSet presAssocID="{F41DC3D3-F9EF-4791-962F-911DBED41009}" presName="sibTrans" presStyleCnt="0"/>
      <dgm:spPr/>
    </dgm:pt>
    <dgm:pt modelId="{14015893-E8C5-4385-A654-C67A308FE250}" type="pres">
      <dgm:prSet presAssocID="{DBF9E070-AF57-43F0-906B-54764ED107F6}" presName="compNode" presStyleCnt="0"/>
      <dgm:spPr/>
    </dgm:pt>
    <dgm:pt modelId="{BE1DFECD-59C8-45EF-A9D0-9F4380A5E985}" type="pres">
      <dgm:prSet presAssocID="{DBF9E070-AF57-43F0-906B-54764ED107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ronomètre avec un remplissage uni"/>
        </a:ext>
      </dgm:extLst>
    </dgm:pt>
    <dgm:pt modelId="{FDA5F2A5-3271-4B39-98F1-0D5CB95773C4}" type="pres">
      <dgm:prSet presAssocID="{DBF9E070-AF57-43F0-906B-54764ED107F6}" presName="spaceRect" presStyleCnt="0"/>
      <dgm:spPr/>
    </dgm:pt>
    <dgm:pt modelId="{2E6F488A-DD9E-4F67-839B-59D251FFD267}" type="pres">
      <dgm:prSet presAssocID="{DBF9E070-AF57-43F0-906B-54764ED107F6}" presName="textRect" presStyleLbl="revTx" presStyleIdx="1" presStyleCnt="3">
        <dgm:presLayoutVars>
          <dgm:chMax val="1"/>
          <dgm:chPref val="1"/>
        </dgm:presLayoutVars>
      </dgm:prSet>
      <dgm:spPr/>
    </dgm:pt>
    <dgm:pt modelId="{6680AE75-CA95-47BF-9164-B88FC4CC93F8}" type="pres">
      <dgm:prSet presAssocID="{2E5A47B1-F453-420B-9FC4-417E78125A9D}" presName="sibTrans" presStyleCnt="0"/>
      <dgm:spPr/>
    </dgm:pt>
    <dgm:pt modelId="{66A6ACC8-A3AB-4870-8D13-E94B853A057A}" type="pres">
      <dgm:prSet presAssocID="{CA09E234-6A20-44AD-A19E-AE8A1CF72105}" presName="compNode" presStyleCnt="0"/>
      <dgm:spPr/>
    </dgm:pt>
    <dgm:pt modelId="{B413A374-BEBC-4817-A5F8-37873D615DDA}" type="pres">
      <dgm:prSet presAssocID="{CA09E234-6A20-44AD-A19E-AE8A1CF7210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èces de puzzle avec un remplissage uni"/>
        </a:ext>
      </dgm:extLst>
    </dgm:pt>
    <dgm:pt modelId="{D4D6856D-4B50-4940-8936-2C2AC8273026}" type="pres">
      <dgm:prSet presAssocID="{CA09E234-6A20-44AD-A19E-AE8A1CF72105}" presName="spaceRect" presStyleCnt="0"/>
      <dgm:spPr/>
    </dgm:pt>
    <dgm:pt modelId="{873D55FD-0F95-479D-B2C7-279A123CF4D7}" type="pres">
      <dgm:prSet presAssocID="{CA09E234-6A20-44AD-A19E-AE8A1CF7210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30962D-81E8-4F22-9580-0F96EF8F6CCC}" srcId="{BEEFE88E-B005-4D24-B99A-2C787D35E30A}" destId="{DBF9E070-AF57-43F0-906B-54764ED107F6}" srcOrd="1" destOrd="0" parTransId="{3A5DBF2A-2F4B-40F5-8E87-B8E614E4A57F}" sibTransId="{2E5A47B1-F453-420B-9FC4-417E78125A9D}"/>
    <dgm:cxn modelId="{61F04068-594F-4F60-A80D-8247A887567B}" type="presOf" srcId="{F87E4A01-CC68-4B7F-983C-D290C8F98D65}" destId="{545032AB-7B56-4AD5-8A13-812249806055}" srcOrd="0" destOrd="0" presId="urn:microsoft.com/office/officeart/2018/2/layout/IconLabelList"/>
    <dgm:cxn modelId="{DE02E775-D086-44D9-BC47-5945CADEA106}" srcId="{BEEFE88E-B005-4D24-B99A-2C787D35E30A}" destId="{F87E4A01-CC68-4B7F-983C-D290C8F98D65}" srcOrd="0" destOrd="0" parTransId="{48971D79-2281-44BC-B096-F5A8F237D7CD}" sibTransId="{F41DC3D3-F9EF-4791-962F-911DBED41009}"/>
    <dgm:cxn modelId="{DF317A8E-D1A9-435B-90ED-3752577164A0}" type="presOf" srcId="{BEEFE88E-B005-4D24-B99A-2C787D35E30A}" destId="{F617A8B9-4809-4AEC-94DA-795AA07475AF}" srcOrd="0" destOrd="0" presId="urn:microsoft.com/office/officeart/2018/2/layout/IconLabelList"/>
    <dgm:cxn modelId="{0944AB9A-D765-4842-B9E5-C8DFD67166DF}" type="presOf" srcId="{DBF9E070-AF57-43F0-906B-54764ED107F6}" destId="{2E6F488A-DD9E-4F67-839B-59D251FFD267}" srcOrd="0" destOrd="0" presId="urn:microsoft.com/office/officeart/2018/2/layout/IconLabelList"/>
    <dgm:cxn modelId="{EEB7599B-CB12-400A-8851-6509CF569EEB}" srcId="{BEEFE88E-B005-4D24-B99A-2C787D35E30A}" destId="{CA09E234-6A20-44AD-A19E-AE8A1CF72105}" srcOrd="2" destOrd="0" parTransId="{A7509DE9-D3DA-4C2D-AF7B-DD78C93A3208}" sibTransId="{F113A3F1-B273-49C5-8259-39B8C8D056AB}"/>
    <dgm:cxn modelId="{40BB9FDC-F9F3-4214-A27A-A63329DB3D15}" type="presOf" srcId="{CA09E234-6A20-44AD-A19E-AE8A1CF72105}" destId="{873D55FD-0F95-479D-B2C7-279A123CF4D7}" srcOrd="0" destOrd="0" presId="urn:microsoft.com/office/officeart/2018/2/layout/IconLabelList"/>
    <dgm:cxn modelId="{7FEE123F-3678-4B13-9AFF-7DC5A464093A}" type="presParOf" srcId="{F617A8B9-4809-4AEC-94DA-795AA07475AF}" destId="{8F979681-D59A-4643-BF33-603252E89ABF}" srcOrd="0" destOrd="0" presId="urn:microsoft.com/office/officeart/2018/2/layout/IconLabelList"/>
    <dgm:cxn modelId="{27131FA4-A6A7-4ED7-86F0-4D9B55F46106}" type="presParOf" srcId="{8F979681-D59A-4643-BF33-603252E89ABF}" destId="{F78A0FBD-BAE8-4DDF-9C56-9A7260080E1B}" srcOrd="0" destOrd="0" presId="urn:microsoft.com/office/officeart/2018/2/layout/IconLabelList"/>
    <dgm:cxn modelId="{33046407-94AD-40DF-940B-2E66123D85D6}" type="presParOf" srcId="{8F979681-D59A-4643-BF33-603252E89ABF}" destId="{7C5F04E3-85D6-4CE8-8E97-26B49552DA6C}" srcOrd="1" destOrd="0" presId="urn:microsoft.com/office/officeart/2018/2/layout/IconLabelList"/>
    <dgm:cxn modelId="{E5D8F804-0EE9-4A34-A500-DFD216477A56}" type="presParOf" srcId="{8F979681-D59A-4643-BF33-603252E89ABF}" destId="{545032AB-7B56-4AD5-8A13-812249806055}" srcOrd="2" destOrd="0" presId="urn:microsoft.com/office/officeart/2018/2/layout/IconLabelList"/>
    <dgm:cxn modelId="{923BA356-59A5-466A-BCAE-0BD9573DC5BF}" type="presParOf" srcId="{F617A8B9-4809-4AEC-94DA-795AA07475AF}" destId="{6856770A-4DFD-499B-AC1D-BFD4F5276B4D}" srcOrd="1" destOrd="0" presId="urn:microsoft.com/office/officeart/2018/2/layout/IconLabelList"/>
    <dgm:cxn modelId="{1E3ED620-1222-4391-B100-E495E84191DF}" type="presParOf" srcId="{F617A8B9-4809-4AEC-94DA-795AA07475AF}" destId="{14015893-E8C5-4385-A654-C67A308FE250}" srcOrd="2" destOrd="0" presId="urn:microsoft.com/office/officeart/2018/2/layout/IconLabelList"/>
    <dgm:cxn modelId="{F9A636E1-B533-4C0B-ACF7-4362B5A6F9AD}" type="presParOf" srcId="{14015893-E8C5-4385-A654-C67A308FE250}" destId="{BE1DFECD-59C8-45EF-A9D0-9F4380A5E985}" srcOrd="0" destOrd="0" presId="urn:microsoft.com/office/officeart/2018/2/layout/IconLabelList"/>
    <dgm:cxn modelId="{7EFC41FF-FA00-4748-B1EB-354D5ADE8954}" type="presParOf" srcId="{14015893-E8C5-4385-A654-C67A308FE250}" destId="{FDA5F2A5-3271-4B39-98F1-0D5CB95773C4}" srcOrd="1" destOrd="0" presId="urn:microsoft.com/office/officeart/2018/2/layout/IconLabelList"/>
    <dgm:cxn modelId="{8E6386DB-F878-4748-AFCE-ED693FA453D7}" type="presParOf" srcId="{14015893-E8C5-4385-A654-C67A308FE250}" destId="{2E6F488A-DD9E-4F67-839B-59D251FFD267}" srcOrd="2" destOrd="0" presId="urn:microsoft.com/office/officeart/2018/2/layout/IconLabelList"/>
    <dgm:cxn modelId="{49BEAE3F-0AEE-44F7-98C4-8A08BF8CC16C}" type="presParOf" srcId="{F617A8B9-4809-4AEC-94DA-795AA07475AF}" destId="{6680AE75-CA95-47BF-9164-B88FC4CC93F8}" srcOrd="3" destOrd="0" presId="urn:microsoft.com/office/officeart/2018/2/layout/IconLabelList"/>
    <dgm:cxn modelId="{CDA4278E-D94C-49AD-B132-EF4123BD271B}" type="presParOf" srcId="{F617A8B9-4809-4AEC-94DA-795AA07475AF}" destId="{66A6ACC8-A3AB-4870-8D13-E94B853A057A}" srcOrd="4" destOrd="0" presId="urn:microsoft.com/office/officeart/2018/2/layout/IconLabelList"/>
    <dgm:cxn modelId="{93CA0B9F-EB70-4680-B9FA-E75EC95E4094}" type="presParOf" srcId="{66A6ACC8-A3AB-4870-8D13-E94B853A057A}" destId="{B413A374-BEBC-4817-A5F8-37873D615DDA}" srcOrd="0" destOrd="0" presId="urn:microsoft.com/office/officeart/2018/2/layout/IconLabelList"/>
    <dgm:cxn modelId="{3EBE927F-1C2F-45D2-896E-D73970D96F42}" type="presParOf" srcId="{66A6ACC8-A3AB-4870-8D13-E94B853A057A}" destId="{D4D6856D-4B50-4940-8936-2C2AC8273026}" srcOrd="1" destOrd="0" presId="urn:microsoft.com/office/officeart/2018/2/layout/IconLabelList"/>
    <dgm:cxn modelId="{6800A9C8-76AE-4833-9573-8CCECA019314}" type="presParOf" srcId="{66A6ACC8-A3AB-4870-8D13-E94B853A057A}" destId="{873D55FD-0F95-479D-B2C7-279A123CF4D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D459CA8-3F19-48F8-A660-6F2719E7C33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7D7764-B4F4-4724-9EDB-CB4451ACAF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Lattices</a:t>
          </a:r>
          <a:r>
            <a:rPr lang="en-US" sz="2000" b="0" noProof="0" dirty="0">
              <a:latin typeface="Garamond" panose="02020404030301010803" pitchFamily="18" charset="0"/>
            </a:rPr>
            <a:t> can support the </a:t>
          </a:r>
          <a:r>
            <a:rPr lang="en-US" sz="2000" b="1" noProof="0" dirty="0">
              <a:latin typeface="Garamond" panose="02020404030301010803" pitchFamily="18" charset="0"/>
            </a:rPr>
            <a:t>integration</a:t>
          </a:r>
          <a:r>
            <a:rPr lang="en-US" sz="2000" b="0" noProof="0" dirty="0">
              <a:latin typeface="Garamond" panose="02020404030301010803" pitchFamily="18" charset="0"/>
            </a:rPr>
            <a:t> of </a:t>
          </a:r>
          <a:r>
            <a:rPr lang="en-US" sz="2000" b="1" noProof="0" dirty="0">
              <a:latin typeface="Garamond" panose="02020404030301010803" pitchFamily="18" charset="0"/>
            </a:rPr>
            <a:t>quantum resistant ZKPs</a:t>
          </a:r>
        </a:p>
      </dgm:t>
    </dgm:pt>
    <dgm:pt modelId="{AD3B5CAC-73CD-4253-8E12-991A498B352B}" type="parTrans" cxnId="{5B6692F1-943A-4378-88A6-A87F0046425A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FF6AE9B6-59F0-4FFA-AF22-97C85CF638AF}" type="sibTrans" cxnId="{5B6692F1-943A-4378-88A6-A87F0046425A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F95DAAC5-5599-4997-9C25-147B15A30B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ML-DSA</a:t>
          </a:r>
          <a:r>
            <a:rPr lang="en-US" sz="2000" b="0" noProof="0" dirty="0">
              <a:latin typeface="Garamond" panose="02020404030301010803" pitchFamily="18" charset="0"/>
            </a:rPr>
            <a:t> helps manage </a:t>
          </a:r>
          <a:r>
            <a:rPr lang="en-US" sz="2000" b="1" noProof="0" dirty="0" err="1">
              <a:latin typeface="Garamond" panose="02020404030301010803" pitchFamily="18" charset="0"/>
            </a:rPr>
            <a:t>linkability</a:t>
          </a:r>
          <a:endParaRPr lang="en-US" sz="2000" b="1" noProof="0" dirty="0">
            <a:latin typeface="Garamond" panose="02020404030301010803" pitchFamily="18" charset="0"/>
          </a:endParaRPr>
        </a:p>
      </dgm:t>
    </dgm:pt>
    <dgm:pt modelId="{1F7C32E4-E8B4-455F-91C6-88663B007EC8}" type="parTrans" cxnId="{322123EF-C36A-4ABA-92B4-39EE045B76E5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997E824E-7C2B-4DA3-A21C-D820B74519FA}" type="sibTrans" cxnId="{322123EF-C36A-4ABA-92B4-39EE045B76E5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A9D83FD3-FBA1-4D34-8E3F-6271F77F9FE6}" type="pres">
      <dgm:prSet presAssocID="{9D459CA8-3F19-48F8-A660-6F2719E7C33C}" presName="root" presStyleCnt="0">
        <dgm:presLayoutVars>
          <dgm:dir/>
          <dgm:resizeHandles val="exact"/>
        </dgm:presLayoutVars>
      </dgm:prSet>
      <dgm:spPr/>
    </dgm:pt>
    <dgm:pt modelId="{31B473AC-1863-45F8-A6F3-EDDC411807F6}" type="pres">
      <dgm:prSet presAssocID="{7B7D7764-B4F4-4724-9EDB-CB4451ACAFB2}" presName="compNode" presStyleCnt="0"/>
      <dgm:spPr/>
    </dgm:pt>
    <dgm:pt modelId="{B18C9CBE-EEEC-44E5-84F3-DF7CD9B9DB49}" type="pres">
      <dgm:prSet presAssocID="{7B7D7764-B4F4-4724-9EDB-CB4451ACAFB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in ouverte avec une plante avec un remplissage uni"/>
        </a:ext>
      </dgm:extLst>
    </dgm:pt>
    <dgm:pt modelId="{842ABA71-6166-485E-9000-1640F5B987F1}" type="pres">
      <dgm:prSet presAssocID="{7B7D7764-B4F4-4724-9EDB-CB4451ACAFB2}" presName="spaceRect" presStyleCnt="0"/>
      <dgm:spPr/>
    </dgm:pt>
    <dgm:pt modelId="{2CE3F5F1-CB74-4062-A58C-9FBED3B36A3D}" type="pres">
      <dgm:prSet presAssocID="{7B7D7764-B4F4-4724-9EDB-CB4451ACAFB2}" presName="textRect" presStyleLbl="revTx" presStyleIdx="0" presStyleCnt="2">
        <dgm:presLayoutVars>
          <dgm:chMax val="1"/>
          <dgm:chPref val="1"/>
        </dgm:presLayoutVars>
      </dgm:prSet>
      <dgm:spPr/>
    </dgm:pt>
    <dgm:pt modelId="{BFAA8951-6670-4875-B903-7A9B9DBF7382}" type="pres">
      <dgm:prSet presAssocID="{FF6AE9B6-59F0-4FFA-AF22-97C85CF638AF}" presName="sibTrans" presStyleCnt="0"/>
      <dgm:spPr/>
    </dgm:pt>
    <dgm:pt modelId="{D7145B0A-0077-426E-93B3-F1D51314EC2F}" type="pres">
      <dgm:prSet presAssocID="{F95DAAC5-5599-4997-9C25-147B15A30B7E}" presName="compNode" presStyleCnt="0"/>
      <dgm:spPr/>
    </dgm:pt>
    <dgm:pt modelId="{8CB7E61B-F134-4FDD-A6CF-46D4E190E67E}" type="pres">
      <dgm:prSet presAssocID="{F95DAAC5-5599-4997-9C25-147B15A30B7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ible vision avec un remplissage uni"/>
        </a:ext>
      </dgm:extLst>
    </dgm:pt>
    <dgm:pt modelId="{4B8E7639-D3B4-4277-8495-52B46E38CC8E}" type="pres">
      <dgm:prSet presAssocID="{F95DAAC5-5599-4997-9C25-147B15A30B7E}" presName="spaceRect" presStyleCnt="0"/>
      <dgm:spPr/>
    </dgm:pt>
    <dgm:pt modelId="{3DD193EC-38B5-487B-A40B-848FC9F6374F}" type="pres">
      <dgm:prSet presAssocID="{F95DAAC5-5599-4997-9C25-147B15A30B7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4A428A0-2C65-44F2-AB6A-9082A5A680AA}" type="presOf" srcId="{9D459CA8-3F19-48F8-A660-6F2719E7C33C}" destId="{A9D83FD3-FBA1-4D34-8E3F-6271F77F9FE6}" srcOrd="0" destOrd="0" presId="urn:microsoft.com/office/officeart/2018/2/layout/IconLabelList"/>
    <dgm:cxn modelId="{1F5DE6B4-29FF-420E-ABC0-CB5BAA920626}" type="presOf" srcId="{F95DAAC5-5599-4997-9C25-147B15A30B7E}" destId="{3DD193EC-38B5-487B-A40B-848FC9F6374F}" srcOrd="0" destOrd="0" presId="urn:microsoft.com/office/officeart/2018/2/layout/IconLabelList"/>
    <dgm:cxn modelId="{CCB436B6-6DE2-45E2-8EB5-D4B4F5E2D53F}" type="presOf" srcId="{7B7D7764-B4F4-4724-9EDB-CB4451ACAFB2}" destId="{2CE3F5F1-CB74-4062-A58C-9FBED3B36A3D}" srcOrd="0" destOrd="0" presId="urn:microsoft.com/office/officeart/2018/2/layout/IconLabelList"/>
    <dgm:cxn modelId="{322123EF-C36A-4ABA-92B4-39EE045B76E5}" srcId="{9D459CA8-3F19-48F8-A660-6F2719E7C33C}" destId="{F95DAAC5-5599-4997-9C25-147B15A30B7E}" srcOrd="1" destOrd="0" parTransId="{1F7C32E4-E8B4-455F-91C6-88663B007EC8}" sibTransId="{997E824E-7C2B-4DA3-A21C-D820B74519FA}"/>
    <dgm:cxn modelId="{5B6692F1-943A-4378-88A6-A87F0046425A}" srcId="{9D459CA8-3F19-48F8-A660-6F2719E7C33C}" destId="{7B7D7764-B4F4-4724-9EDB-CB4451ACAFB2}" srcOrd="0" destOrd="0" parTransId="{AD3B5CAC-73CD-4253-8E12-991A498B352B}" sibTransId="{FF6AE9B6-59F0-4FFA-AF22-97C85CF638AF}"/>
    <dgm:cxn modelId="{8F018676-36E2-42BB-853F-7178EE7C116D}" type="presParOf" srcId="{A9D83FD3-FBA1-4D34-8E3F-6271F77F9FE6}" destId="{31B473AC-1863-45F8-A6F3-EDDC411807F6}" srcOrd="0" destOrd="0" presId="urn:microsoft.com/office/officeart/2018/2/layout/IconLabelList"/>
    <dgm:cxn modelId="{37989EF7-5BE0-4A27-A44A-95AA5CED4DD5}" type="presParOf" srcId="{31B473AC-1863-45F8-A6F3-EDDC411807F6}" destId="{B18C9CBE-EEEC-44E5-84F3-DF7CD9B9DB49}" srcOrd="0" destOrd="0" presId="urn:microsoft.com/office/officeart/2018/2/layout/IconLabelList"/>
    <dgm:cxn modelId="{6F7B4CA4-075A-4CA8-9330-C5C7B71D40BE}" type="presParOf" srcId="{31B473AC-1863-45F8-A6F3-EDDC411807F6}" destId="{842ABA71-6166-485E-9000-1640F5B987F1}" srcOrd="1" destOrd="0" presId="urn:microsoft.com/office/officeart/2018/2/layout/IconLabelList"/>
    <dgm:cxn modelId="{24B4ABA0-5243-459A-9E6B-E61B7A9D7572}" type="presParOf" srcId="{31B473AC-1863-45F8-A6F3-EDDC411807F6}" destId="{2CE3F5F1-CB74-4062-A58C-9FBED3B36A3D}" srcOrd="2" destOrd="0" presId="urn:microsoft.com/office/officeart/2018/2/layout/IconLabelList"/>
    <dgm:cxn modelId="{5D643564-42DF-4B33-A9FE-FA5D2090F98E}" type="presParOf" srcId="{A9D83FD3-FBA1-4D34-8E3F-6271F77F9FE6}" destId="{BFAA8951-6670-4875-B903-7A9B9DBF7382}" srcOrd="1" destOrd="0" presId="urn:microsoft.com/office/officeart/2018/2/layout/IconLabelList"/>
    <dgm:cxn modelId="{881B4E67-291D-4561-A9CC-0EB748C192AA}" type="presParOf" srcId="{A9D83FD3-FBA1-4D34-8E3F-6271F77F9FE6}" destId="{D7145B0A-0077-426E-93B3-F1D51314EC2F}" srcOrd="2" destOrd="0" presId="urn:microsoft.com/office/officeart/2018/2/layout/IconLabelList"/>
    <dgm:cxn modelId="{5B5F1A60-D0D0-465C-A62B-111FC48F5AA7}" type="presParOf" srcId="{D7145B0A-0077-426E-93B3-F1D51314EC2F}" destId="{8CB7E61B-F134-4FDD-A6CF-46D4E190E67E}" srcOrd="0" destOrd="0" presId="urn:microsoft.com/office/officeart/2018/2/layout/IconLabelList"/>
    <dgm:cxn modelId="{FA61DD35-C799-46B1-AB9F-F66A4EA08035}" type="presParOf" srcId="{D7145B0A-0077-426E-93B3-F1D51314EC2F}" destId="{4B8E7639-D3B4-4277-8495-52B46E38CC8E}" srcOrd="1" destOrd="0" presId="urn:microsoft.com/office/officeart/2018/2/layout/IconLabelList"/>
    <dgm:cxn modelId="{9E8DF946-9830-4B2B-A770-A468A7C3872F}" type="presParOf" srcId="{D7145B0A-0077-426E-93B3-F1D51314EC2F}" destId="{3DD193EC-38B5-487B-A40B-848FC9F6374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D459CA8-3F19-48F8-A660-6F2719E7C33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7D7764-B4F4-4724-9EDB-CB4451ACAF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noProof="0" dirty="0">
              <a:latin typeface="Garamond" panose="02020404030301010803" pitchFamily="18" charset="0"/>
            </a:rPr>
            <a:t>Some of the </a:t>
          </a:r>
          <a:r>
            <a:rPr lang="en-US" sz="2000" b="1" noProof="0" dirty="0">
              <a:latin typeface="Garamond" panose="02020404030301010803" pitchFamily="18" charset="0"/>
            </a:rPr>
            <a:t>currently used ZKPs </a:t>
          </a:r>
          <a:r>
            <a:rPr lang="en-US" sz="2000" b="0" noProof="0" dirty="0">
              <a:latin typeface="Garamond" panose="02020404030301010803" pitchFamily="18" charset="0"/>
            </a:rPr>
            <a:t>are </a:t>
          </a:r>
          <a:r>
            <a:rPr lang="en-US" sz="2000" b="1" noProof="0" dirty="0">
              <a:latin typeface="Garamond" panose="02020404030301010803" pitchFamily="18" charset="0"/>
            </a:rPr>
            <a:t>not quantum resistant </a:t>
          </a:r>
          <a:r>
            <a:rPr lang="en-US" sz="2000" b="0" noProof="0" dirty="0">
              <a:latin typeface="Garamond" panose="02020404030301010803" pitchFamily="18" charset="0"/>
            </a:rPr>
            <a:t>(</a:t>
          </a:r>
          <a:r>
            <a:rPr lang="en-US" sz="2000" b="0" noProof="0" dirty="0" err="1">
              <a:latin typeface="Garamond" panose="02020404030301010803" pitchFamily="18" charset="0"/>
            </a:rPr>
            <a:t>zk</a:t>
          </a:r>
          <a:r>
            <a:rPr lang="en-US" sz="2000" b="0" noProof="0" dirty="0">
              <a:latin typeface="Garamond" panose="02020404030301010803" pitchFamily="18" charset="0"/>
            </a:rPr>
            <a:t>-SNARKs) </a:t>
          </a:r>
        </a:p>
      </dgm:t>
    </dgm:pt>
    <dgm:pt modelId="{AD3B5CAC-73CD-4253-8E12-991A498B352B}" type="parTrans" cxnId="{5B6692F1-943A-4378-88A6-A87F0046425A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FF6AE9B6-59F0-4FFA-AF22-97C85CF638AF}" type="sibTrans" cxnId="{5B6692F1-943A-4378-88A6-A87F0046425A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F95DAAC5-5599-4997-9C25-147B15A30B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noProof="0" dirty="0">
              <a:latin typeface="Garamond" panose="02020404030301010803" pitchFamily="18" charset="0"/>
            </a:rPr>
            <a:t>Some solution are being studied</a:t>
          </a:r>
        </a:p>
        <a:p>
          <a:pPr>
            <a:lnSpc>
              <a:spcPct val="100000"/>
            </a:lnSpc>
          </a:pPr>
          <a:r>
            <a:rPr lang="en-US" sz="2000" b="1" noProof="0" dirty="0">
              <a:latin typeface="Garamond" panose="02020404030301010803" pitchFamily="18" charset="0"/>
            </a:rPr>
            <a:t>(Lattice-based </a:t>
          </a:r>
          <a:r>
            <a:rPr lang="en-US" sz="2000" b="1" noProof="0" dirty="0" err="1">
              <a:latin typeface="Garamond" panose="02020404030301010803" pitchFamily="18" charset="0"/>
            </a:rPr>
            <a:t>zk</a:t>
          </a:r>
          <a:r>
            <a:rPr lang="en-US" sz="2000" b="1" noProof="0" dirty="0">
              <a:latin typeface="Garamond" panose="02020404030301010803" pitchFamily="18" charset="0"/>
            </a:rPr>
            <a:t>-SNARKs, </a:t>
          </a:r>
          <a:r>
            <a:rPr lang="en-US" sz="2000" b="1" noProof="0" dirty="0" err="1">
              <a:latin typeface="Garamond" panose="02020404030301010803" pitchFamily="18" charset="0"/>
            </a:rPr>
            <a:t>zk</a:t>
          </a:r>
          <a:r>
            <a:rPr lang="en-US" sz="2000" b="1" noProof="0" dirty="0">
              <a:latin typeface="Garamond" panose="02020404030301010803" pitchFamily="18" charset="0"/>
            </a:rPr>
            <a:t>-STARKs)</a:t>
          </a:r>
        </a:p>
      </dgm:t>
    </dgm:pt>
    <dgm:pt modelId="{1F7C32E4-E8B4-455F-91C6-88663B007EC8}" type="parTrans" cxnId="{322123EF-C36A-4ABA-92B4-39EE045B76E5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997E824E-7C2B-4DA3-A21C-D820B74519FA}" type="sibTrans" cxnId="{322123EF-C36A-4ABA-92B4-39EE045B76E5}">
      <dgm:prSet/>
      <dgm:spPr/>
      <dgm:t>
        <a:bodyPr/>
        <a:lstStyle/>
        <a:p>
          <a:endParaRPr lang="en-US" sz="2000">
            <a:latin typeface="Garamond" panose="02020404030301010803" pitchFamily="18" charset="0"/>
          </a:endParaRPr>
        </a:p>
      </dgm:t>
    </dgm:pt>
    <dgm:pt modelId="{A9D83FD3-FBA1-4D34-8E3F-6271F77F9FE6}" type="pres">
      <dgm:prSet presAssocID="{9D459CA8-3F19-48F8-A660-6F2719E7C33C}" presName="root" presStyleCnt="0">
        <dgm:presLayoutVars>
          <dgm:dir/>
          <dgm:resizeHandles val="exact"/>
        </dgm:presLayoutVars>
      </dgm:prSet>
      <dgm:spPr/>
    </dgm:pt>
    <dgm:pt modelId="{31B473AC-1863-45F8-A6F3-EDDC411807F6}" type="pres">
      <dgm:prSet presAssocID="{7B7D7764-B4F4-4724-9EDB-CB4451ACAFB2}" presName="compNode" presStyleCnt="0"/>
      <dgm:spPr/>
    </dgm:pt>
    <dgm:pt modelId="{B18C9CBE-EEEC-44E5-84F3-DF7CD9B9DB49}" type="pres">
      <dgm:prSet presAssocID="{7B7D7764-B4F4-4724-9EDB-CB4451ACAFB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nt d’exclamation avec un remplissage uni"/>
        </a:ext>
      </dgm:extLst>
    </dgm:pt>
    <dgm:pt modelId="{842ABA71-6166-485E-9000-1640F5B987F1}" type="pres">
      <dgm:prSet presAssocID="{7B7D7764-B4F4-4724-9EDB-CB4451ACAFB2}" presName="spaceRect" presStyleCnt="0"/>
      <dgm:spPr/>
    </dgm:pt>
    <dgm:pt modelId="{2CE3F5F1-CB74-4062-A58C-9FBED3B36A3D}" type="pres">
      <dgm:prSet presAssocID="{7B7D7764-B4F4-4724-9EDB-CB4451ACAFB2}" presName="textRect" presStyleLbl="revTx" presStyleIdx="0" presStyleCnt="2">
        <dgm:presLayoutVars>
          <dgm:chMax val="1"/>
          <dgm:chPref val="1"/>
        </dgm:presLayoutVars>
      </dgm:prSet>
      <dgm:spPr/>
    </dgm:pt>
    <dgm:pt modelId="{BFAA8951-6670-4875-B903-7A9B9DBF7382}" type="pres">
      <dgm:prSet presAssocID="{FF6AE9B6-59F0-4FFA-AF22-97C85CF638AF}" presName="sibTrans" presStyleCnt="0"/>
      <dgm:spPr/>
    </dgm:pt>
    <dgm:pt modelId="{D7145B0A-0077-426E-93B3-F1D51314EC2F}" type="pres">
      <dgm:prSet presAssocID="{F95DAAC5-5599-4997-9C25-147B15A30B7E}" presName="compNode" presStyleCnt="0"/>
      <dgm:spPr/>
    </dgm:pt>
    <dgm:pt modelId="{8CB7E61B-F134-4FDD-A6CF-46D4E190E67E}" type="pres">
      <dgm:prSet presAssocID="{F95DAAC5-5599-4997-9C25-147B15A30B7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utils avec un remplissage uni"/>
        </a:ext>
      </dgm:extLst>
    </dgm:pt>
    <dgm:pt modelId="{4B8E7639-D3B4-4277-8495-52B46E38CC8E}" type="pres">
      <dgm:prSet presAssocID="{F95DAAC5-5599-4997-9C25-147B15A30B7E}" presName="spaceRect" presStyleCnt="0"/>
      <dgm:spPr/>
    </dgm:pt>
    <dgm:pt modelId="{3DD193EC-38B5-487B-A40B-848FC9F6374F}" type="pres">
      <dgm:prSet presAssocID="{F95DAAC5-5599-4997-9C25-147B15A30B7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4A428A0-2C65-44F2-AB6A-9082A5A680AA}" type="presOf" srcId="{9D459CA8-3F19-48F8-A660-6F2719E7C33C}" destId="{A9D83FD3-FBA1-4D34-8E3F-6271F77F9FE6}" srcOrd="0" destOrd="0" presId="urn:microsoft.com/office/officeart/2018/2/layout/IconLabelList"/>
    <dgm:cxn modelId="{1F5DE6B4-29FF-420E-ABC0-CB5BAA920626}" type="presOf" srcId="{F95DAAC5-5599-4997-9C25-147B15A30B7E}" destId="{3DD193EC-38B5-487B-A40B-848FC9F6374F}" srcOrd="0" destOrd="0" presId="urn:microsoft.com/office/officeart/2018/2/layout/IconLabelList"/>
    <dgm:cxn modelId="{CCB436B6-6DE2-45E2-8EB5-D4B4F5E2D53F}" type="presOf" srcId="{7B7D7764-B4F4-4724-9EDB-CB4451ACAFB2}" destId="{2CE3F5F1-CB74-4062-A58C-9FBED3B36A3D}" srcOrd="0" destOrd="0" presId="urn:microsoft.com/office/officeart/2018/2/layout/IconLabelList"/>
    <dgm:cxn modelId="{322123EF-C36A-4ABA-92B4-39EE045B76E5}" srcId="{9D459CA8-3F19-48F8-A660-6F2719E7C33C}" destId="{F95DAAC5-5599-4997-9C25-147B15A30B7E}" srcOrd="1" destOrd="0" parTransId="{1F7C32E4-E8B4-455F-91C6-88663B007EC8}" sibTransId="{997E824E-7C2B-4DA3-A21C-D820B74519FA}"/>
    <dgm:cxn modelId="{5B6692F1-943A-4378-88A6-A87F0046425A}" srcId="{9D459CA8-3F19-48F8-A660-6F2719E7C33C}" destId="{7B7D7764-B4F4-4724-9EDB-CB4451ACAFB2}" srcOrd="0" destOrd="0" parTransId="{AD3B5CAC-73CD-4253-8E12-991A498B352B}" sibTransId="{FF6AE9B6-59F0-4FFA-AF22-97C85CF638AF}"/>
    <dgm:cxn modelId="{8F018676-36E2-42BB-853F-7178EE7C116D}" type="presParOf" srcId="{A9D83FD3-FBA1-4D34-8E3F-6271F77F9FE6}" destId="{31B473AC-1863-45F8-A6F3-EDDC411807F6}" srcOrd="0" destOrd="0" presId="urn:microsoft.com/office/officeart/2018/2/layout/IconLabelList"/>
    <dgm:cxn modelId="{37989EF7-5BE0-4A27-A44A-95AA5CED4DD5}" type="presParOf" srcId="{31B473AC-1863-45F8-A6F3-EDDC411807F6}" destId="{B18C9CBE-EEEC-44E5-84F3-DF7CD9B9DB49}" srcOrd="0" destOrd="0" presId="urn:microsoft.com/office/officeart/2018/2/layout/IconLabelList"/>
    <dgm:cxn modelId="{6F7B4CA4-075A-4CA8-9330-C5C7B71D40BE}" type="presParOf" srcId="{31B473AC-1863-45F8-A6F3-EDDC411807F6}" destId="{842ABA71-6166-485E-9000-1640F5B987F1}" srcOrd="1" destOrd="0" presId="urn:microsoft.com/office/officeart/2018/2/layout/IconLabelList"/>
    <dgm:cxn modelId="{24B4ABA0-5243-459A-9E6B-E61B7A9D7572}" type="presParOf" srcId="{31B473AC-1863-45F8-A6F3-EDDC411807F6}" destId="{2CE3F5F1-CB74-4062-A58C-9FBED3B36A3D}" srcOrd="2" destOrd="0" presId="urn:microsoft.com/office/officeart/2018/2/layout/IconLabelList"/>
    <dgm:cxn modelId="{5D643564-42DF-4B33-A9FE-FA5D2090F98E}" type="presParOf" srcId="{A9D83FD3-FBA1-4D34-8E3F-6271F77F9FE6}" destId="{BFAA8951-6670-4875-B903-7A9B9DBF7382}" srcOrd="1" destOrd="0" presId="urn:microsoft.com/office/officeart/2018/2/layout/IconLabelList"/>
    <dgm:cxn modelId="{881B4E67-291D-4561-A9CC-0EB748C192AA}" type="presParOf" srcId="{A9D83FD3-FBA1-4D34-8E3F-6271F77F9FE6}" destId="{D7145B0A-0077-426E-93B3-F1D51314EC2F}" srcOrd="2" destOrd="0" presId="urn:microsoft.com/office/officeart/2018/2/layout/IconLabelList"/>
    <dgm:cxn modelId="{5B5F1A60-D0D0-465C-A62B-111FC48F5AA7}" type="presParOf" srcId="{D7145B0A-0077-426E-93B3-F1D51314EC2F}" destId="{8CB7E61B-F134-4FDD-A6CF-46D4E190E67E}" srcOrd="0" destOrd="0" presId="urn:microsoft.com/office/officeart/2018/2/layout/IconLabelList"/>
    <dgm:cxn modelId="{FA61DD35-C799-46B1-AB9F-F66A4EA08035}" type="presParOf" srcId="{D7145B0A-0077-426E-93B3-F1D51314EC2F}" destId="{4B8E7639-D3B4-4277-8495-52B46E38CC8E}" srcOrd="1" destOrd="0" presId="urn:microsoft.com/office/officeart/2018/2/layout/IconLabelList"/>
    <dgm:cxn modelId="{9E8DF946-9830-4B2B-A770-A468A7C3872F}" type="presParOf" srcId="{D7145B0A-0077-426E-93B3-F1D51314EC2F}" destId="{3DD193EC-38B5-487B-A40B-848FC9F6374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BED13-B6E9-4EE8-8F3B-BEA62D419C35}">
      <dsp:nvSpPr>
        <dsp:cNvPr id="0" name=""/>
        <dsp:cNvSpPr/>
      </dsp:nvSpPr>
      <dsp:spPr>
        <a:xfrm>
          <a:off x="1762822" y="1009126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7470A-2352-499B-B3C3-9A196F8ECAC7}">
      <dsp:nvSpPr>
        <dsp:cNvPr id="0" name=""/>
        <dsp:cNvSpPr/>
      </dsp:nvSpPr>
      <dsp:spPr>
        <a:xfrm>
          <a:off x="56531" y="2968657"/>
          <a:ext cx="4966768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Based on One-time signatures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Organized in a Merkle tree</a:t>
          </a:r>
        </a:p>
      </dsp:txBody>
      <dsp:txXfrm>
        <a:off x="56531" y="2968657"/>
        <a:ext cx="4966768" cy="742500"/>
      </dsp:txXfrm>
    </dsp:sp>
    <dsp:sp modelId="{EAA3639B-37A2-4BB5-B7EE-2A345CD4958C}">
      <dsp:nvSpPr>
        <dsp:cNvPr id="0" name=""/>
        <dsp:cNvSpPr/>
      </dsp:nvSpPr>
      <dsp:spPr>
        <a:xfrm>
          <a:off x="7168614" y="1009126"/>
          <a:ext cx="1554187" cy="1554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419BF-5215-4347-B700-3BF43D97F455}">
      <dsp:nvSpPr>
        <dsp:cNvPr id="0" name=""/>
        <dsp:cNvSpPr/>
      </dsp:nvSpPr>
      <dsp:spPr>
        <a:xfrm>
          <a:off x="5627706" y="2968657"/>
          <a:ext cx="4636003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Security relies only 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on collision-resistant hash functions</a:t>
          </a:r>
          <a:endParaRPr lang="en-US" sz="1600" kern="1200" noProof="0" dirty="0">
            <a:latin typeface="Garamond" panose="02020404030301010803" pitchFamily="18" charset="0"/>
          </a:endParaRPr>
        </a:p>
      </dsp:txBody>
      <dsp:txXfrm>
        <a:off x="5627706" y="2968657"/>
        <a:ext cx="4636003" cy="742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BED13-B6E9-4EE8-8F3B-BEA62D419C35}">
      <dsp:nvSpPr>
        <dsp:cNvPr id="0" name=""/>
        <dsp:cNvSpPr/>
      </dsp:nvSpPr>
      <dsp:spPr>
        <a:xfrm>
          <a:off x="1762822" y="1022251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7470A-2352-499B-B3C3-9A196F8ECAC7}">
      <dsp:nvSpPr>
        <dsp:cNvPr id="0" name=""/>
        <dsp:cNvSpPr/>
      </dsp:nvSpPr>
      <dsp:spPr>
        <a:xfrm>
          <a:off x="56531" y="2978032"/>
          <a:ext cx="496676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Based on NTRU Lattices and used Fast Fourier Transform </a:t>
          </a:r>
        </a:p>
      </dsp:txBody>
      <dsp:txXfrm>
        <a:off x="56531" y="2978032"/>
        <a:ext cx="4966768" cy="720000"/>
      </dsp:txXfrm>
    </dsp:sp>
    <dsp:sp modelId="{EAA3639B-37A2-4BB5-B7EE-2A345CD4958C}">
      <dsp:nvSpPr>
        <dsp:cNvPr id="0" name=""/>
        <dsp:cNvSpPr/>
      </dsp:nvSpPr>
      <dsp:spPr>
        <a:xfrm>
          <a:off x="7168614" y="1022251"/>
          <a:ext cx="1554187" cy="1554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419BF-5215-4347-B700-3BF43D97F455}">
      <dsp:nvSpPr>
        <dsp:cNvPr id="0" name=""/>
        <dsp:cNvSpPr/>
      </dsp:nvSpPr>
      <dsp:spPr>
        <a:xfrm>
          <a:off x="5627706" y="2978032"/>
          <a:ext cx="46360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Security relies on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noProof="0" dirty="0">
              <a:latin typeface="Garamond" panose="02020404030301010803" pitchFamily="18" charset="0"/>
            </a:rPr>
            <a:t>Hard NTRU lattice problems</a:t>
          </a:r>
        </a:p>
      </dsp:txBody>
      <dsp:txXfrm>
        <a:off x="5627706" y="2978032"/>
        <a:ext cx="4636003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BED13-B6E9-4EE8-8F3B-BEA62D419C35}">
      <dsp:nvSpPr>
        <dsp:cNvPr id="0" name=""/>
        <dsp:cNvSpPr/>
      </dsp:nvSpPr>
      <dsp:spPr>
        <a:xfrm>
          <a:off x="1762822" y="1009065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7470A-2352-499B-B3C3-9A196F8ECAC7}">
      <dsp:nvSpPr>
        <dsp:cNvPr id="0" name=""/>
        <dsp:cNvSpPr/>
      </dsp:nvSpPr>
      <dsp:spPr>
        <a:xfrm>
          <a:off x="56531" y="2968718"/>
          <a:ext cx="4966768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Based on Modular Lattices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noProof="0" dirty="0">
              <a:latin typeface="Garamond" panose="02020404030301010803" pitchFamily="18" charset="0"/>
            </a:rPr>
            <a:t>Extension of CRYSTALS-</a:t>
          </a:r>
          <a:r>
            <a:rPr lang="en-US" sz="2000" b="0" kern="1200" noProof="0" dirty="0" err="1">
              <a:latin typeface="Garamond" panose="02020404030301010803" pitchFamily="18" charset="0"/>
            </a:rPr>
            <a:t>Dilithium</a:t>
          </a:r>
          <a:r>
            <a:rPr lang="en-US" sz="2000" b="0" kern="1200" noProof="0" dirty="0">
              <a:latin typeface="Garamond" panose="02020404030301010803" pitchFamily="18" charset="0"/>
            </a:rPr>
            <a:t> </a:t>
          </a:r>
        </a:p>
      </dsp:txBody>
      <dsp:txXfrm>
        <a:off x="56531" y="2968718"/>
        <a:ext cx="4966768" cy="742500"/>
      </dsp:txXfrm>
    </dsp:sp>
    <dsp:sp modelId="{EAA3639B-37A2-4BB5-B7EE-2A345CD4958C}">
      <dsp:nvSpPr>
        <dsp:cNvPr id="0" name=""/>
        <dsp:cNvSpPr/>
      </dsp:nvSpPr>
      <dsp:spPr>
        <a:xfrm>
          <a:off x="7168614" y="1009065"/>
          <a:ext cx="1554187" cy="1554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419BF-5215-4347-B700-3BF43D97F455}">
      <dsp:nvSpPr>
        <dsp:cNvPr id="0" name=""/>
        <dsp:cNvSpPr/>
      </dsp:nvSpPr>
      <dsp:spPr>
        <a:xfrm>
          <a:off x="5627706" y="2968718"/>
          <a:ext cx="4636003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Security relies on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Hard Modular lattice problems</a:t>
          </a:r>
          <a:endParaRPr lang="en-US" sz="1600" kern="1200" noProof="0" dirty="0">
            <a:latin typeface="Garamond" panose="02020404030301010803" pitchFamily="18" charset="0"/>
          </a:endParaRPr>
        </a:p>
      </dsp:txBody>
      <dsp:txXfrm>
        <a:off x="5627706" y="2968718"/>
        <a:ext cx="4636003" cy="742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A0FBD-BAE8-4DDF-9C56-9A7260080E1B}">
      <dsp:nvSpPr>
        <dsp:cNvPr id="0" name=""/>
        <dsp:cNvSpPr/>
      </dsp:nvSpPr>
      <dsp:spPr>
        <a:xfrm>
          <a:off x="987253" y="1206368"/>
          <a:ext cx="927690" cy="927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032AB-7B56-4AD5-8A13-812249806055}">
      <dsp:nvSpPr>
        <dsp:cNvPr id="0" name=""/>
        <dsp:cNvSpPr/>
      </dsp:nvSpPr>
      <dsp:spPr>
        <a:xfrm>
          <a:off x="420331" y="2424969"/>
          <a:ext cx="20615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Garamond" panose="02020404030301010803" pitchFamily="18" charset="0"/>
            </a:rPr>
            <a:t>Facilitate technical integration</a:t>
          </a:r>
        </a:p>
      </dsp:txBody>
      <dsp:txXfrm>
        <a:off x="420331" y="2424969"/>
        <a:ext cx="2061534" cy="720000"/>
      </dsp:txXfrm>
    </dsp:sp>
    <dsp:sp modelId="{BE1DFECD-59C8-45EF-A9D0-9F4380A5E985}">
      <dsp:nvSpPr>
        <dsp:cNvPr id="0" name=""/>
        <dsp:cNvSpPr/>
      </dsp:nvSpPr>
      <dsp:spPr>
        <a:xfrm>
          <a:off x="3409556" y="1206368"/>
          <a:ext cx="927690" cy="927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F488A-DD9E-4F67-839B-59D251FFD267}">
      <dsp:nvSpPr>
        <dsp:cNvPr id="0" name=""/>
        <dsp:cNvSpPr/>
      </dsp:nvSpPr>
      <dsp:spPr>
        <a:xfrm>
          <a:off x="2842634" y="2424969"/>
          <a:ext cx="20615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Garamond" panose="02020404030301010803" pitchFamily="18" charset="0"/>
            </a:rPr>
            <a:t>Manage</a:t>
          </a:r>
          <a:r>
            <a:rPr lang="en-US" sz="2000" kern="1200" baseline="0" noProof="0" dirty="0">
              <a:latin typeface="Garamond" panose="02020404030301010803" pitchFamily="18" charset="0"/>
            </a:rPr>
            <a:t> change</a:t>
          </a:r>
          <a:endParaRPr lang="en-US" sz="2000" kern="1200" noProof="0" dirty="0">
            <a:latin typeface="Garamond" panose="02020404030301010803" pitchFamily="18" charset="0"/>
          </a:endParaRPr>
        </a:p>
      </dsp:txBody>
      <dsp:txXfrm>
        <a:off x="2842634" y="2424969"/>
        <a:ext cx="2061534" cy="720000"/>
      </dsp:txXfrm>
    </dsp:sp>
    <dsp:sp modelId="{F18EBD4D-6E5D-4CE1-8775-1B2481AD62FD}">
      <dsp:nvSpPr>
        <dsp:cNvPr id="0" name=""/>
        <dsp:cNvSpPr/>
      </dsp:nvSpPr>
      <dsp:spPr>
        <a:xfrm>
          <a:off x="5831859" y="1206368"/>
          <a:ext cx="927690" cy="927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8117E-6925-4AFD-BA0E-70372720C29B}">
      <dsp:nvSpPr>
        <dsp:cNvPr id="0" name=""/>
        <dsp:cNvSpPr/>
      </dsp:nvSpPr>
      <dsp:spPr>
        <a:xfrm>
          <a:off x="5264937" y="2424969"/>
          <a:ext cx="20615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Garamond" panose="02020404030301010803" pitchFamily="18" charset="0"/>
            </a:rPr>
            <a:t>Enable user adoption</a:t>
          </a:r>
        </a:p>
      </dsp:txBody>
      <dsp:txXfrm>
        <a:off x="5264937" y="2424969"/>
        <a:ext cx="2061534" cy="720000"/>
      </dsp:txXfrm>
    </dsp:sp>
    <dsp:sp modelId="{B413A374-BEBC-4817-A5F8-37873D615DDA}">
      <dsp:nvSpPr>
        <dsp:cNvPr id="0" name=""/>
        <dsp:cNvSpPr/>
      </dsp:nvSpPr>
      <dsp:spPr>
        <a:xfrm>
          <a:off x="8254162" y="1206368"/>
          <a:ext cx="927690" cy="9276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D55FD-0F95-479D-B2C7-279A123CF4D7}">
      <dsp:nvSpPr>
        <dsp:cNvPr id="0" name=""/>
        <dsp:cNvSpPr/>
      </dsp:nvSpPr>
      <dsp:spPr>
        <a:xfrm>
          <a:off x="7687240" y="2424969"/>
          <a:ext cx="20615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Garamond" panose="02020404030301010803" pitchFamily="18" charset="0"/>
            </a:rPr>
            <a:t>Renew trust</a:t>
          </a:r>
        </a:p>
      </dsp:txBody>
      <dsp:txXfrm>
        <a:off x="7687240" y="2424969"/>
        <a:ext cx="2061534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A0FBD-BAE8-4DDF-9C56-9A7260080E1B}">
      <dsp:nvSpPr>
        <dsp:cNvPr id="0" name=""/>
        <dsp:cNvSpPr/>
      </dsp:nvSpPr>
      <dsp:spPr>
        <a:xfrm>
          <a:off x="1099959" y="998727"/>
          <a:ext cx="1280762" cy="12807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032AB-7B56-4AD5-8A13-812249806055}">
      <dsp:nvSpPr>
        <dsp:cNvPr id="0" name=""/>
        <dsp:cNvSpPr/>
      </dsp:nvSpPr>
      <dsp:spPr>
        <a:xfrm>
          <a:off x="317271" y="2632610"/>
          <a:ext cx="28461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Garamond" panose="02020404030301010803" pitchFamily="18" charset="0"/>
            </a:rPr>
            <a:t>Already used and trusted packages</a:t>
          </a:r>
        </a:p>
      </dsp:txBody>
      <dsp:txXfrm>
        <a:off x="317271" y="2632610"/>
        <a:ext cx="2846138" cy="720000"/>
      </dsp:txXfrm>
    </dsp:sp>
    <dsp:sp modelId="{BE1DFECD-59C8-45EF-A9D0-9F4380A5E985}">
      <dsp:nvSpPr>
        <dsp:cNvPr id="0" name=""/>
        <dsp:cNvSpPr/>
      </dsp:nvSpPr>
      <dsp:spPr>
        <a:xfrm>
          <a:off x="4444171" y="998727"/>
          <a:ext cx="1280762" cy="12807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F488A-DD9E-4F67-839B-59D251FFD267}">
      <dsp:nvSpPr>
        <dsp:cNvPr id="0" name=""/>
        <dsp:cNvSpPr/>
      </dsp:nvSpPr>
      <dsp:spPr>
        <a:xfrm>
          <a:off x="3661483" y="2632610"/>
          <a:ext cx="28461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Garamond" panose="02020404030301010803" pitchFamily="18" charset="0"/>
            </a:rPr>
            <a:t>Simplified yet representative ETH blockchain model</a:t>
          </a:r>
        </a:p>
      </dsp:txBody>
      <dsp:txXfrm>
        <a:off x="3661483" y="2632610"/>
        <a:ext cx="2846138" cy="720000"/>
      </dsp:txXfrm>
    </dsp:sp>
    <dsp:sp modelId="{F18EBD4D-6E5D-4CE1-8775-1B2481AD62FD}">
      <dsp:nvSpPr>
        <dsp:cNvPr id="0" name=""/>
        <dsp:cNvSpPr/>
      </dsp:nvSpPr>
      <dsp:spPr>
        <a:xfrm>
          <a:off x="7788384" y="998727"/>
          <a:ext cx="1280762" cy="12807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8117E-6925-4AFD-BA0E-70372720C29B}">
      <dsp:nvSpPr>
        <dsp:cNvPr id="0" name=""/>
        <dsp:cNvSpPr/>
      </dsp:nvSpPr>
      <dsp:spPr>
        <a:xfrm>
          <a:off x="7005696" y="2632610"/>
          <a:ext cx="28461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Garamond" panose="02020404030301010803" pitchFamily="18" charset="0"/>
            </a:rPr>
            <a:t>Performance benchmarking and Gas cost estimation</a:t>
          </a:r>
        </a:p>
      </dsp:txBody>
      <dsp:txXfrm>
        <a:off x="7005696" y="2632610"/>
        <a:ext cx="2846138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A0FBD-BAE8-4DDF-9C56-9A7260080E1B}">
      <dsp:nvSpPr>
        <dsp:cNvPr id="0" name=""/>
        <dsp:cNvSpPr/>
      </dsp:nvSpPr>
      <dsp:spPr>
        <a:xfrm>
          <a:off x="1099959" y="906062"/>
          <a:ext cx="1280762" cy="12807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032AB-7B56-4AD5-8A13-812249806055}">
      <dsp:nvSpPr>
        <dsp:cNvPr id="0" name=""/>
        <dsp:cNvSpPr/>
      </dsp:nvSpPr>
      <dsp:spPr>
        <a:xfrm>
          <a:off x="317271" y="2567775"/>
          <a:ext cx="2846138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Garamond" panose="02020404030301010803" pitchFamily="18" charset="0"/>
            </a:rPr>
            <a:t>Simulate the state of the blockchain at each phase</a:t>
          </a:r>
        </a:p>
      </dsp:txBody>
      <dsp:txXfrm>
        <a:off x="317271" y="2567775"/>
        <a:ext cx="2846138" cy="877500"/>
      </dsp:txXfrm>
    </dsp:sp>
    <dsp:sp modelId="{BE1DFECD-59C8-45EF-A9D0-9F4380A5E985}">
      <dsp:nvSpPr>
        <dsp:cNvPr id="0" name=""/>
        <dsp:cNvSpPr/>
      </dsp:nvSpPr>
      <dsp:spPr>
        <a:xfrm>
          <a:off x="4444171" y="906062"/>
          <a:ext cx="1280762" cy="12807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F488A-DD9E-4F67-839B-59D251FFD267}">
      <dsp:nvSpPr>
        <dsp:cNvPr id="0" name=""/>
        <dsp:cNvSpPr/>
      </dsp:nvSpPr>
      <dsp:spPr>
        <a:xfrm>
          <a:off x="3661483" y="2567775"/>
          <a:ext cx="2846138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Garamond" panose="02020404030301010803" pitchFamily="18" charset="0"/>
            </a:rPr>
            <a:t>Measure </a:t>
          </a:r>
          <a:r>
            <a:rPr lang="en-US" sz="2000" kern="1200" noProof="0" dirty="0" err="1">
              <a:latin typeface="Garamond" panose="02020404030301010803" pitchFamily="18" charset="0"/>
            </a:rPr>
            <a:t>blocktime</a:t>
          </a:r>
          <a:r>
            <a:rPr lang="en-US" sz="2000" kern="1200" noProof="0" dirty="0">
              <a:latin typeface="Garamond" panose="02020404030301010803" pitchFamily="18" charset="0"/>
            </a:rPr>
            <a:t>, signature and verification time over 1000 blocks</a:t>
          </a:r>
        </a:p>
      </dsp:txBody>
      <dsp:txXfrm>
        <a:off x="3661483" y="2567775"/>
        <a:ext cx="2846138" cy="877500"/>
      </dsp:txXfrm>
    </dsp:sp>
    <dsp:sp modelId="{B413A374-BEBC-4817-A5F8-37873D615DDA}">
      <dsp:nvSpPr>
        <dsp:cNvPr id="0" name=""/>
        <dsp:cNvSpPr/>
      </dsp:nvSpPr>
      <dsp:spPr>
        <a:xfrm>
          <a:off x="7788384" y="906062"/>
          <a:ext cx="1280762" cy="12807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D55FD-0F95-479D-B2C7-279A123CF4D7}">
      <dsp:nvSpPr>
        <dsp:cNvPr id="0" name=""/>
        <dsp:cNvSpPr/>
      </dsp:nvSpPr>
      <dsp:spPr>
        <a:xfrm>
          <a:off x="7005696" y="2567775"/>
          <a:ext cx="2846138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Garamond" panose="02020404030301010803" pitchFamily="18" charset="0"/>
            </a:rPr>
            <a:t>Quantum resistant PoW blockchains for comparison and insights</a:t>
          </a:r>
        </a:p>
      </dsp:txBody>
      <dsp:txXfrm>
        <a:off x="7005696" y="2567775"/>
        <a:ext cx="2846138" cy="877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8C9CBE-EEEC-44E5-84F3-DF7CD9B9DB49}">
      <dsp:nvSpPr>
        <dsp:cNvPr id="0" name=""/>
        <dsp:cNvSpPr/>
      </dsp:nvSpPr>
      <dsp:spPr>
        <a:xfrm>
          <a:off x="1574553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E3F5F1-CB74-4062-A58C-9FBED3B36A3D}">
      <dsp:nvSpPr>
        <dsp:cNvPr id="0" name=""/>
        <dsp:cNvSpPr/>
      </dsp:nvSpPr>
      <dsp:spPr>
        <a:xfrm>
          <a:off x="386553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Lattices</a:t>
          </a:r>
          <a:r>
            <a:rPr lang="en-US" sz="2000" b="0" kern="1200" noProof="0" dirty="0">
              <a:latin typeface="Garamond" panose="02020404030301010803" pitchFamily="18" charset="0"/>
            </a:rPr>
            <a:t> can support the </a:t>
          </a:r>
          <a:r>
            <a:rPr lang="en-US" sz="2000" b="1" kern="1200" noProof="0" dirty="0">
              <a:latin typeface="Garamond" panose="02020404030301010803" pitchFamily="18" charset="0"/>
            </a:rPr>
            <a:t>integration</a:t>
          </a:r>
          <a:r>
            <a:rPr lang="en-US" sz="2000" b="0" kern="1200" noProof="0" dirty="0">
              <a:latin typeface="Garamond" panose="02020404030301010803" pitchFamily="18" charset="0"/>
            </a:rPr>
            <a:t> of </a:t>
          </a:r>
          <a:r>
            <a:rPr lang="en-US" sz="2000" b="1" kern="1200" noProof="0" dirty="0">
              <a:latin typeface="Garamond" panose="02020404030301010803" pitchFamily="18" charset="0"/>
            </a:rPr>
            <a:t>quantum resistant ZKPs</a:t>
          </a:r>
        </a:p>
      </dsp:txBody>
      <dsp:txXfrm>
        <a:off x="386553" y="3022743"/>
        <a:ext cx="4320000" cy="720000"/>
      </dsp:txXfrm>
    </dsp:sp>
    <dsp:sp modelId="{8CB7E61B-F134-4FDD-A6CF-46D4E190E67E}">
      <dsp:nvSpPr>
        <dsp:cNvPr id="0" name=""/>
        <dsp:cNvSpPr/>
      </dsp:nvSpPr>
      <dsp:spPr>
        <a:xfrm>
          <a:off x="6650553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193EC-38B5-487B-A40B-848FC9F6374F}">
      <dsp:nvSpPr>
        <dsp:cNvPr id="0" name=""/>
        <dsp:cNvSpPr/>
      </dsp:nvSpPr>
      <dsp:spPr>
        <a:xfrm>
          <a:off x="5462553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ML-DSA</a:t>
          </a:r>
          <a:r>
            <a:rPr lang="en-US" sz="2000" b="0" kern="1200" noProof="0" dirty="0">
              <a:latin typeface="Garamond" panose="02020404030301010803" pitchFamily="18" charset="0"/>
            </a:rPr>
            <a:t> helps manage </a:t>
          </a:r>
          <a:r>
            <a:rPr lang="en-US" sz="2000" b="1" kern="1200" noProof="0" dirty="0" err="1">
              <a:latin typeface="Garamond" panose="02020404030301010803" pitchFamily="18" charset="0"/>
            </a:rPr>
            <a:t>linkability</a:t>
          </a:r>
          <a:endParaRPr lang="en-US" sz="2000" b="1" kern="1200" noProof="0" dirty="0">
            <a:latin typeface="Garamond" panose="02020404030301010803" pitchFamily="18" charset="0"/>
          </a:endParaRPr>
        </a:p>
      </dsp:txBody>
      <dsp:txXfrm>
        <a:off x="5462553" y="3022743"/>
        <a:ext cx="432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8C9CBE-EEEC-44E5-84F3-DF7CD9B9DB49}">
      <dsp:nvSpPr>
        <dsp:cNvPr id="0" name=""/>
        <dsp:cNvSpPr/>
      </dsp:nvSpPr>
      <dsp:spPr>
        <a:xfrm>
          <a:off x="1574553" y="463021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E3F5F1-CB74-4062-A58C-9FBED3B36A3D}">
      <dsp:nvSpPr>
        <dsp:cNvPr id="0" name=""/>
        <dsp:cNvSpPr/>
      </dsp:nvSpPr>
      <dsp:spPr>
        <a:xfrm>
          <a:off x="386553" y="2920816"/>
          <a:ext cx="4320000" cy="96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noProof="0" dirty="0">
              <a:latin typeface="Garamond" panose="02020404030301010803" pitchFamily="18" charset="0"/>
            </a:rPr>
            <a:t>Some of the </a:t>
          </a:r>
          <a:r>
            <a:rPr lang="en-US" sz="2000" b="1" kern="1200" noProof="0" dirty="0">
              <a:latin typeface="Garamond" panose="02020404030301010803" pitchFamily="18" charset="0"/>
            </a:rPr>
            <a:t>currently used ZKPs </a:t>
          </a:r>
          <a:r>
            <a:rPr lang="en-US" sz="2000" b="0" kern="1200" noProof="0" dirty="0">
              <a:latin typeface="Garamond" panose="02020404030301010803" pitchFamily="18" charset="0"/>
            </a:rPr>
            <a:t>are </a:t>
          </a:r>
          <a:r>
            <a:rPr lang="en-US" sz="2000" b="1" kern="1200" noProof="0" dirty="0">
              <a:latin typeface="Garamond" panose="02020404030301010803" pitchFamily="18" charset="0"/>
            </a:rPr>
            <a:t>not quantum resistant </a:t>
          </a:r>
          <a:r>
            <a:rPr lang="en-US" sz="2000" b="0" kern="1200" noProof="0" dirty="0">
              <a:latin typeface="Garamond" panose="02020404030301010803" pitchFamily="18" charset="0"/>
            </a:rPr>
            <a:t>(</a:t>
          </a:r>
          <a:r>
            <a:rPr lang="en-US" sz="2000" b="0" kern="1200" noProof="0" dirty="0" err="1">
              <a:latin typeface="Garamond" panose="02020404030301010803" pitchFamily="18" charset="0"/>
            </a:rPr>
            <a:t>zk</a:t>
          </a:r>
          <a:r>
            <a:rPr lang="en-US" sz="2000" b="0" kern="1200" noProof="0" dirty="0">
              <a:latin typeface="Garamond" panose="02020404030301010803" pitchFamily="18" charset="0"/>
            </a:rPr>
            <a:t>-SNARKs) </a:t>
          </a:r>
        </a:p>
      </dsp:txBody>
      <dsp:txXfrm>
        <a:off x="386553" y="2920816"/>
        <a:ext cx="4320000" cy="967500"/>
      </dsp:txXfrm>
    </dsp:sp>
    <dsp:sp modelId="{8CB7E61B-F134-4FDD-A6CF-46D4E190E67E}">
      <dsp:nvSpPr>
        <dsp:cNvPr id="0" name=""/>
        <dsp:cNvSpPr/>
      </dsp:nvSpPr>
      <dsp:spPr>
        <a:xfrm>
          <a:off x="6650553" y="463021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193EC-38B5-487B-A40B-848FC9F6374F}">
      <dsp:nvSpPr>
        <dsp:cNvPr id="0" name=""/>
        <dsp:cNvSpPr/>
      </dsp:nvSpPr>
      <dsp:spPr>
        <a:xfrm>
          <a:off x="5462553" y="2920816"/>
          <a:ext cx="4320000" cy="96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noProof="0" dirty="0">
              <a:latin typeface="Garamond" panose="02020404030301010803" pitchFamily="18" charset="0"/>
            </a:rPr>
            <a:t>Some solution are being studied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Garamond" panose="02020404030301010803" pitchFamily="18" charset="0"/>
            </a:rPr>
            <a:t>(Lattice-based </a:t>
          </a:r>
          <a:r>
            <a:rPr lang="en-US" sz="2000" b="1" kern="1200" noProof="0" dirty="0" err="1">
              <a:latin typeface="Garamond" panose="02020404030301010803" pitchFamily="18" charset="0"/>
            </a:rPr>
            <a:t>zk</a:t>
          </a:r>
          <a:r>
            <a:rPr lang="en-US" sz="2000" b="1" kern="1200" noProof="0" dirty="0">
              <a:latin typeface="Garamond" panose="02020404030301010803" pitchFamily="18" charset="0"/>
            </a:rPr>
            <a:t>-SNARKs, </a:t>
          </a:r>
          <a:r>
            <a:rPr lang="en-US" sz="2000" b="1" kern="1200" noProof="0" dirty="0" err="1">
              <a:latin typeface="Garamond" panose="02020404030301010803" pitchFamily="18" charset="0"/>
            </a:rPr>
            <a:t>zk</a:t>
          </a:r>
          <a:r>
            <a:rPr lang="en-US" sz="2000" b="1" kern="1200" noProof="0" dirty="0">
              <a:latin typeface="Garamond" panose="02020404030301010803" pitchFamily="18" charset="0"/>
            </a:rPr>
            <a:t>-STARKs)</a:t>
          </a:r>
        </a:p>
      </dsp:txBody>
      <dsp:txXfrm>
        <a:off x="5462553" y="2920816"/>
        <a:ext cx="4320000" cy="96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08BF2-82B9-4992-A8AC-80AD2FBC2A59}" type="datetimeFigureOut">
              <a:rPr lang="fr-FR" smtClean="0"/>
              <a:t>01/07/2025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664A1-53B4-4422-BD9C-CCC64C2932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471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F6C98-4898-484F-9C22-349A1123FE98}" type="datetime1">
              <a:rPr lang="fr-FR" smtClean="0"/>
              <a:t>01/07/2025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659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40905-FD1A-4988-B11B-012DCE4ACD03}" type="datetime1">
              <a:rPr lang="fr-FR" smtClean="0"/>
              <a:t>01/07/2025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304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EC7E-4408-47BD-BC8D-A555C2E14707}" type="datetime1">
              <a:rPr lang="fr-FR" smtClean="0"/>
              <a:t>01/07/2025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1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289BB-EF24-4ED0-A194-692AEFD0CD85}" type="datetime1">
              <a:rPr lang="fr-FR" smtClean="0"/>
              <a:t>01/07/2025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928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D5DE7-F4FB-45FB-9E64-B73A6C1E7CB6}" type="datetime1">
              <a:rPr lang="fr-FR" smtClean="0"/>
              <a:t>01/07/2025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44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6B181-D3B8-46FE-A4F4-34F4376DAF4C}" type="datetime1">
              <a:rPr lang="fr-FR" smtClean="0"/>
              <a:t>01/07/2025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516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49EBD-2F87-4657-A27F-D6786DF398F7}" type="datetime1">
              <a:rPr lang="fr-FR" smtClean="0"/>
              <a:t>01/07/2025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070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EE6D-3558-4427-9655-403E90B0E9C7}" type="datetime1">
              <a:rPr lang="fr-FR" smtClean="0"/>
              <a:t>01/07/2025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540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5EC-3EB1-4F92-BC08-4F731A375E53}" type="datetime1">
              <a:rPr lang="fr-FR" smtClean="0"/>
              <a:t>01/07/2025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21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928E-826B-4A51-A1F1-30DEFDD69556}" type="datetime1">
              <a:rPr lang="fr-FR" smtClean="0"/>
              <a:t>01/07/2025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315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E9BE-EFEC-4997-9B4B-9CBA2FD598D4}" type="datetime1">
              <a:rPr lang="fr-FR" smtClean="0"/>
              <a:t>01/07/2025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90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AB784-0530-4E78-BC7C-B8326189A3B8}" type="datetime1">
              <a:rPr lang="fr-FR" smtClean="0"/>
              <a:t>01/07/2025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CEBFC-50E9-445C-A7E9-E146AF536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2445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DA3CB1-1220-403F-A839-FDC9FBBE4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166" y="1122363"/>
            <a:ext cx="10929668" cy="2387600"/>
          </a:xfrm>
        </p:spPr>
        <p:txBody>
          <a:bodyPr>
            <a:normAutofit/>
          </a:bodyPr>
          <a:lstStyle/>
          <a:p>
            <a:r>
              <a:rPr lang="en-US" sz="5400" noProof="0" dirty="0">
                <a:latin typeface="Gill Sans MT Condensed" panose="020B0506020104020203" pitchFamily="34" charset="0"/>
                <a:cs typeface="Helvetica" panose="020B0604020202020204" pitchFamily="34" charset="0"/>
              </a:rPr>
              <a:t>Exploring Quantum-Resistant Signatures for</a:t>
            </a:r>
            <a:br>
              <a:rPr lang="en-US" sz="5400" noProof="0" dirty="0">
                <a:latin typeface="Gill Sans MT Condensed" panose="020B0506020104020203" pitchFamily="34" charset="0"/>
                <a:cs typeface="Helvetica" panose="020B0604020202020204" pitchFamily="34" charset="0"/>
              </a:rPr>
            </a:br>
            <a:r>
              <a:rPr lang="en-US" sz="5400" noProof="0" dirty="0">
                <a:latin typeface="Gill Sans MT Condensed" panose="020B0506020104020203" pitchFamily="34" charset="0"/>
                <a:cs typeface="Helvetica" panose="020B0604020202020204" pitchFamily="34" charset="0"/>
              </a:rPr>
              <a:t>Ethereum’s Hybrid Blockchain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763FAEA-79A6-42B7-A35E-3EBA82E12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7308"/>
            <a:ext cx="9144000" cy="1200492"/>
          </a:xfrm>
        </p:spPr>
        <p:txBody>
          <a:bodyPr>
            <a:normAutofit/>
          </a:bodyPr>
          <a:lstStyle/>
          <a:p>
            <a:r>
              <a:rPr lang="en-US" noProof="0" dirty="0">
                <a:latin typeface="Garamond" panose="02020404030301010803" pitchFamily="18" charset="0"/>
              </a:rPr>
              <a:t>Master’s Thesis – University of Geneva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1911995-7C63-4050-9226-E920080D37EA}"/>
              </a:ext>
            </a:extLst>
          </p:cNvPr>
          <p:cNvSpPr txBox="1"/>
          <p:nvPr/>
        </p:nvSpPr>
        <p:spPr>
          <a:xfrm>
            <a:off x="9277811" y="6471981"/>
            <a:ext cx="2801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Apple Garamond" panose="02000506080000020004" pitchFamily="2" charset="0"/>
              </a:rPr>
              <a:t>Dany A. Darghouth – June 2025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45749A0-F610-4504-8AC0-A0A97515115C}"/>
              </a:ext>
            </a:extLst>
          </p:cNvPr>
          <p:cNvCxnSpPr/>
          <p:nvPr/>
        </p:nvCxnSpPr>
        <p:spPr>
          <a:xfrm>
            <a:off x="2343492" y="3805437"/>
            <a:ext cx="7539694" cy="0"/>
          </a:xfrm>
          <a:prstGeom prst="line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46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8B42B-14C1-419A-AE03-BEDA52D3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561112"/>
          </a:xfrm>
        </p:spPr>
        <p:txBody>
          <a:bodyPr/>
          <a:lstStyle/>
          <a:p>
            <a:r>
              <a:rPr lang="en-US" noProof="0" dirty="0">
                <a:latin typeface="Gill Sans MT Condensed" panose="020B0506020104020203" pitchFamily="34" charset="0"/>
                <a:ea typeface="Roboto" panose="02000000000000000000" pitchFamily="2" charset="0"/>
              </a:rPr>
              <a:t>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098B94-B6EE-487E-A18F-D99F01AC4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noProof="0" dirty="0">
                <a:solidFill>
                  <a:schemeClr val="tx1"/>
                </a:solidFill>
                <a:latin typeface="Garamond" panose="02020404030301010803" pitchFamily="18" charset="0"/>
              </a:rPr>
              <a:t>Understanding the context, and why we’re here exactly..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3B6681-CA3E-47E0-B990-45106277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6212" y="6367301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2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5348AF1-6D2B-4202-953D-D16AECE69A4F}"/>
              </a:ext>
            </a:extLst>
          </p:cNvPr>
          <p:cNvCxnSpPr/>
          <p:nvPr/>
        </p:nvCxnSpPr>
        <p:spPr>
          <a:xfrm>
            <a:off x="876072" y="4484393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899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070E1-2507-4858-BF5E-43E3EA96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INTRODUCTION	            				         CONTEXT - ETHEREUM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C4F6D0-3022-4A45-9E92-1010A623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3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9B8B25E-8A4A-491D-8EC5-0B0750A88505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559CF79B-4274-951B-1D8F-06B993A4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447" y="1652492"/>
            <a:ext cx="10169106" cy="4351338"/>
          </a:xfrm>
        </p:spPr>
        <p:txBody>
          <a:bodyPr anchor="ctr">
            <a:normAutofit/>
          </a:bodyPr>
          <a:lstStyle/>
          <a:p>
            <a:r>
              <a:rPr lang="en-US" b="1" noProof="0" dirty="0">
                <a:latin typeface="Garamond" panose="02020404030301010803" pitchFamily="18" charset="0"/>
              </a:rPr>
              <a:t>Second biggest blockchain</a:t>
            </a:r>
            <a:r>
              <a:rPr lang="en-US" noProof="0" dirty="0">
                <a:latin typeface="Garamond" panose="02020404030301010803" pitchFamily="18" charset="0"/>
              </a:rPr>
              <a:t> in the world</a:t>
            </a:r>
            <a:endParaRPr lang="en-US" b="1" noProof="0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Recently transitioned </a:t>
            </a:r>
            <a:r>
              <a:rPr lang="en-US" b="1" dirty="0">
                <a:latin typeface="Garamond" panose="02020404030301010803" pitchFamily="18" charset="0"/>
              </a:rPr>
              <a:t>from PoW to </a:t>
            </a:r>
            <a:r>
              <a:rPr lang="en-US" b="1" dirty="0" err="1">
                <a:latin typeface="Garamond" panose="02020404030301010803" pitchFamily="18" charset="0"/>
              </a:rPr>
              <a:t>PoS</a:t>
            </a:r>
            <a:endParaRPr lang="en-US" b="1" dirty="0">
              <a:latin typeface="Garamond" panose="02020404030301010803" pitchFamily="18" charset="0"/>
            </a:endParaRPr>
          </a:p>
          <a:p>
            <a:pPr lvl="1"/>
            <a:r>
              <a:rPr lang="en-US" b="1" dirty="0">
                <a:latin typeface="Garamond" panose="02020404030301010803" pitchFamily="18" charset="0"/>
              </a:rPr>
              <a:t>Signatures play a crucial role</a:t>
            </a:r>
          </a:p>
          <a:p>
            <a:endParaRPr lang="en-US" noProof="0" dirty="0">
              <a:latin typeface="Garamond" panose="02020404030301010803" pitchFamily="18" charset="0"/>
            </a:endParaRPr>
          </a:p>
          <a:p>
            <a:r>
              <a:rPr lang="en-US" noProof="0" dirty="0">
                <a:latin typeface="Garamond" panose="02020404030301010803" pitchFamily="18" charset="0"/>
              </a:rPr>
              <a:t>Relies on </a:t>
            </a:r>
            <a:r>
              <a:rPr lang="en-US" b="1" noProof="0" dirty="0">
                <a:latin typeface="Garamond" panose="02020404030301010803" pitchFamily="18" charset="0"/>
              </a:rPr>
              <a:t>ECDSA </a:t>
            </a:r>
            <a:r>
              <a:rPr lang="en-US" noProof="0" dirty="0">
                <a:latin typeface="Garamond" panose="02020404030301010803" pitchFamily="18" charset="0"/>
              </a:rPr>
              <a:t>(Elliptic Curve Digital Signature Algorithm)</a:t>
            </a:r>
          </a:p>
          <a:p>
            <a:endParaRPr lang="en-US" noProof="0" dirty="0">
              <a:latin typeface="Garamond" panose="02020404030301010803" pitchFamily="18" charset="0"/>
            </a:endParaRPr>
          </a:p>
          <a:p>
            <a:pPr lvl="1"/>
            <a:endParaRPr lang="en-US" b="1" noProof="0" dirty="0">
              <a:latin typeface="Garamond" panose="02020404030301010803" pitchFamily="18" charset="0"/>
            </a:endParaRPr>
          </a:p>
          <a:p>
            <a:r>
              <a:rPr lang="en-US" noProof="0" dirty="0">
                <a:latin typeface="Garamond" panose="02020404030301010803" pitchFamily="18" charset="0"/>
              </a:rPr>
              <a:t>Supports </a:t>
            </a:r>
            <a:r>
              <a:rPr lang="en-US" noProof="0" dirty="0" err="1">
                <a:latin typeface="Garamond" panose="02020404030301010803" pitchFamily="18" charset="0"/>
              </a:rPr>
              <a:t>dApps</a:t>
            </a:r>
            <a:r>
              <a:rPr lang="en-US" noProof="0" dirty="0">
                <a:latin typeface="Garamond" panose="02020404030301010803" pitchFamily="18" charset="0"/>
              </a:rPr>
              <a:t> and smart contracts</a:t>
            </a:r>
            <a:endParaRPr lang="en-US" noProof="0" dirty="0">
              <a:latin typeface="Apple Garamond" panose="0200050608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937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4B08-FE32-7C76-9153-D106B05C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D4C0E0-EE83-4208-1085-E6880287C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INTRODUCTION	            				  CONTEXT – QUANTUM THREAT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4B47A3-D9D3-0BD4-DDDF-E407ECDA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4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D57087F-67EA-CD3F-541D-286E4A4AB27B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E8FE3CF-8BA3-3331-1D1B-F228943B6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447" y="1652492"/>
            <a:ext cx="10169106" cy="435133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latin typeface="Garamond" panose="02020404030301010803" pitchFamily="18" charset="0"/>
              </a:rPr>
              <a:t>Quantum computing will provide speedup (e.g. Grover’s algorithm) and new computing possibilities (e.g. Shor’s algorithm)</a:t>
            </a:r>
          </a:p>
          <a:p>
            <a:endParaRPr lang="en-US" b="1" noProof="0" dirty="0">
              <a:latin typeface="Garamond" panose="02020404030301010803" pitchFamily="18" charset="0"/>
            </a:endParaRPr>
          </a:p>
          <a:p>
            <a:r>
              <a:rPr lang="en-US" b="1" noProof="0" dirty="0">
                <a:latin typeface="Garamond" panose="02020404030301010803" pitchFamily="18" charset="0"/>
              </a:rPr>
              <a:t>Shor’s </a:t>
            </a:r>
            <a:r>
              <a:rPr lang="en-US" noProof="0" dirty="0">
                <a:latin typeface="Garamond" panose="02020404030301010803" pitchFamily="18" charset="0"/>
              </a:rPr>
              <a:t>algorithm </a:t>
            </a:r>
            <a:r>
              <a:rPr lang="en-US" b="1" noProof="0" dirty="0">
                <a:latin typeface="Garamond" panose="02020404030301010803" pitchFamily="18" charset="0"/>
              </a:rPr>
              <a:t>breaks</a:t>
            </a:r>
            <a:r>
              <a:rPr lang="en-US" noProof="0" dirty="0">
                <a:latin typeface="Garamond" panose="02020404030301010803" pitchFamily="18" charset="0"/>
              </a:rPr>
              <a:t> discrete log-based schemes (i.e. </a:t>
            </a:r>
            <a:r>
              <a:rPr lang="en-US" b="1" noProof="0" dirty="0">
                <a:latin typeface="Garamond" panose="02020404030301010803" pitchFamily="18" charset="0"/>
              </a:rPr>
              <a:t>ECDSA</a:t>
            </a:r>
            <a:r>
              <a:rPr lang="en-US" noProof="0" dirty="0">
                <a:latin typeface="Garamond" panose="02020404030301010803" pitchFamily="18" charset="0"/>
              </a:rPr>
              <a:t>)</a:t>
            </a:r>
          </a:p>
          <a:p>
            <a:pPr lvl="1"/>
            <a:r>
              <a:rPr lang="en-US" b="1" noProof="0" dirty="0">
                <a:latin typeface="Garamond" panose="02020404030301010803" pitchFamily="18" charset="0"/>
              </a:rPr>
              <a:t>Ethereum private keys can be recovered from public keys</a:t>
            </a:r>
          </a:p>
          <a:p>
            <a:pPr lvl="1"/>
            <a:r>
              <a:rPr lang="en-US" b="1" noProof="0" dirty="0">
                <a:latin typeface="Garamond" panose="02020404030301010803" pitchFamily="18" charset="0"/>
              </a:rPr>
              <a:t>Pending transactions can be intercepted and re-signed by attackers</a:t>
            </a:r>
          </a:p>
          <a:p>
            <a:pPr marL="457200" lvl="1" indent="0">
              <a:buNone/>
            </a:pPr>
            <a:endParaRPr lang="en-US" b="1" noProof="0" dirty="0">
              <a:latin typeface="Garamond" panose="02020404030301010803" pitchFamily="18" charset="0"/>
            </a:endParaRPr>
          </a:p>
          <a:p>
            <a:r>
              <a:rPr lang="en-US" noProof="0" dirty="0">
                <a:latin typeface="Garamond" panose="02020404030301010803" pitchFamily="18" charset="0"/>
              </a:rPr>
              <a:t>Not a matter of </a:t>
            </a:r>
            <a:r>
              <a:rPr lang="en-US" b="1" noProof="0" dirty="0">
                <a:latin typeface="Garamond" panose="02020404030301010803" pitchFamily="18" charset="0"/>
              </a:rPr>
              <a:t>“if”</a:t>
            </a:r>
            <a:r>
              <a:rPr lang="en-US" noProof="0" dirty="0">
                <a:latin typeface="Garamond" panose="02020404030301010803" pitchFamily="18" charset="0"/>
              </a:rPr>
              <a:t> but a matter of </a:t>
            </a:r>
            <a:r>
              <a:rPr lang="en-US" b="1" noProof="0" dirty="0">
                <a:latin typeface="Garamond" panose="02020404030301010803" pitchFamily="18" charset="0"/>
              </a:rPr>
              <a:t>“when”</a:t>
            </a:r>
            <a:endParaRPr lang="en-US" b="1" noProof="0" dirty="0">
              <a:latin typeface="Apple Garamond" panose="0200050608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494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070E1-2507-4858-BF5E-43E3EA96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INTRODUCTION	            				        	 CONTEXT - NIST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C4F6D0-3022-4A45-9E92-1010A623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5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9B8B25E-8A4A-491D-8EC5-0B0750A88505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559CF79B-4274-951B-1D8F-06B993A4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447" y="1652492"/>
            <a:ext cx="10169106" cy="4351338"/>
          </a:xfrm>
        </p:spPr>
        <p:txBody>
          <a:bodyPr anchor="ctr">
            <a:normAutofit/>
          </a:bodyPr>
          <a:lstStyle/>
          <a:p>
            <a:r>
              <a:rPr lang="en-US" b="1" noProof="0" dirty="0">
                <a:latin typeface="Garamond" panose="02020404030301010803" pitchFamily="18" charset="0"/>
              </a:rPr>
              <a:t>NIST </a:t>
            </a:r>
            <a:r>
              <a:rPr lang="en-US" noProof="0" dirty="0">
                <a:latin typeface="Garamond" panose="02020404030301010803" pitchFamily="18" charset="0"/>
              </a:rPr>
              <a:t>started a search for </a:t>
            </a:r>
            <a:r>
              <a:rPr lang="en-US" b="1" noProof="0" dirty="0">
                <a:latin typeface="Garamond" panose="02020404030301010803" pitchFamily="18" charset="0"/>
              </a:rPr>
              <a:t>new standards </a:t>
            </a:r>
            <a:r>
              <a:rPr lang="en-US" noProof="0" dirty="0">
                <a:latin typeface="Garamond" panose="02020404030301010803" pitchFamily="18" charset="0"/>
              </a:rPr>
              <a:t>in 2016</a:t>
            </a:r>
          </a:p>
          <a:p>
            <a:endParaRPr lang="en-US" noProof="0" dirty="0">
              <a:latin typeface="Garamond" panose="02020404030301010803" pitchFamily="18" charset="0"/>
            </a:endParaRPr>
          </a:p>
          <a:p>
            <a:r>
              <a:rPr lang="en-US" b="1" noProof="0" dirty="0">
                <a:latin typeface="Garamond" panose="02020404030301010803" pitchFamily="18" charset="0"/>
              </a:rPr>
              <a:t>3 Candidates </a:t>
            </a:r>
            <a:r>
              <a:rPr lang="en-US" noProof="0" dirty="0">
                <a:latin typeface="Garamond" panose="02020404030301010803" pitchFamily="18" charset="0"/>
              </a:rPr>
              <a:t> were </a:t>
            </a:r>
            <a:r>
              <a:rPr lang="en-US" b="1" noProof="0" dirty="0">
                <a:latin typeface="Garamond" panose="02020404030301010803" pitchFamily="18" charset="0"/>
              </a:rPr>
              <a:t>standardized in august 2024 </a:t>
            </a:r>
          </a:p>
          <a:p>
            <a:pPr lvl="1"/>
            <a:r>
              <a:rPr lang="en-US" b="1" noProof="0" dirty="0">
                <a:latin typeface="Garamond" panose="02020404030301010803" pitchFamily="18" charset="0"/>
              </a:rPr>
              <a:t>(ML-DSA, FALCON, SLH-DSA)</a:t>
            </a:r>
          </a:p>
          <a:p>
            <a:pPr lvl="1"/>
            <a:endParaRPr lang="en-US" b="1" noProof="0" dirty="0">
              <a:latin typeface="Garamond" panose="02020404030301010803" pitchFamily="18" charset="0"/>
            </a:endParaRPr>
          </a:p>
          <a:p>
            <a:r>
              <a:rPr lang="en-US" noProof="0" dirty="0">
                <a:latin typeface="Garamond" panose="02020404030301010803" pitchFamily="18" charset="0"/>
              </a:rPr>
              <a:t>The search for signatures continues as of today (additional call for candidates launched in 2024)</a:t>
            </a:r>
          </a:p>
        </p:txBody>
      </p:sp>
    </p:spTree>
    <p:extLst>
      <p:ext uri="{BB962C8B-B14F-4D97-AF65-F5344CB8AC3E}">
        <p14:creationId xmlns:p14="http://schemas.microsoft.com/office/powerpoint/2010/main" val="1133044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8B42B-14C1-419A-AE03-BEDA52D3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561112"/>
          </a:xfrm>
        </p:spPr>
        <p:txBody>
          <a:bodyPr/>
          <a:lstStyle/>
          <a:p>
            <a:r>
              <a:rPr lang="en-US" noProof="0" dirty="0">
                <a:latin typeface="Gill Sans MT Condensed" panose="020B0506020104020203" pitchFamily="34" charset="0"/>
                <a:ea typeface="Roboto" panose="02000000000000000000" pitchFamily="2" charset="0"/>
              </a:rPr>
              <a:t>CRYPTOGRAPHIC BACKGROUND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098B94-B6EE-487E-A18F-D99F01AC4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noProof="0" dirty="0">
                <a:solidFill>
                  <a:schemeClr val="tx1"/>
                </a:solidFill>
                <a:latin typeface="Garamond" panose="02020404030301010803" pitchFamily="18" charset="0"/>
              </a:rPr>
              <a:t>Signatures, Hash-Based signatures, Lattice-Based…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3B6681-CA3E-47E0-B990-45106277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6212" y="6367301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6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5348AF1-6D2B-4202-953D-D16AECE69A4F}"/>
              </a:ext>
            </a:extLst>
          </p:cNvPr>
          <p:cNvCxnSpPr/>
          <p:nvPr/>
        </p:nvCxnSpPr>
        <p:spPr>
          <a:xfrm>
            <a:off x="876072" y="4484393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584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02F97-449C-47BE-887D-C49BC391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4224D9-E96A-6320-A148-E6C3ADC1C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/>
              </a:rPr>
              <a:t>CRYPTOGRAPHIC BACKGROUND      	       		        PROOF of STAKE</a:t>
            </a:r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EC4CF8-EE73-9925-71AD-3CF557C3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7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C36E36B-D871-5A4B-229B-EBF1A450E7AE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>
            <a:extLst>
              <a:ext uri="{FF2B5EF4-FFF2-40B4-BE49-F238E27FC236}">
                <a16:creationId xmlns:a16="http://schemas.microsoft.com/office/drawing/2014/main" id="{7C0B506C-EE69-9BAF-2FC6-DAA52CF4B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513" y="1226911"/>
            <a:ext cx="6450973" cy="526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8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070E1-2507-4858-BF5E-43E3EA96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/>
              </a:rPr>
              <a:t>CRYPTOGRAPHIC BACKGROUND      	       		           SIGNATURES</a:t>
            </a:r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C4F6D0-3022-4A45-9E92-1010A623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8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9B8B25E-8A4A-491D-8EC5-0B0750A88505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559CF79B-4274-951B-1D8F-06B993A4C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447" y="1652492"/>
            <a:ext cx="1016910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noProof="0" dirty="0">
              <a:latin typeface="Garamond"/>
              <a:ea typeface="Calibri"/>
              <a:cs typeface="Calibri"/>
            </a:endParaRPr>
          </a:p>
          <a:p>
            <a:endParaRPr lang="en-US" noProof="0" dirty="0">
              <a:latin typeface="Apple Garamond" panose="02000506080000020004" pitchFamily="2" charset="0"/>
              <a:ea typeface="Calibri"/>
              <a:cs typeface="Calibri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FDE70A8-D10F-56ED-346A-77E267328B7A}"/>
              </a:ext>
            </a:extLst>
          </p:cNvPr>
          <p:cNvGrpSpPr/>
          <p:nvPr/>
        </p:nvGrpSpPr>
        <p:grpSpPr>
          <a:xfrm>
            <a:off x="842765" y="2384360"/>
            <a:ext cx="10506470" cy="2089280"/>
            <a:chOff x="871961" y="2540745"/>
            <a:chExt cx="10457143" cy="2079471"/>
          </a:xfrm>
        </p:grpSpPr>
        <p:sp>
          <p:nvSpPr>
            <p:cNvPr id="6" name="Rectangle 5" descr="Clé avec un remplissage uni">
              <a:extLst>
                <a:ext uri="{FF2B5EF4-FFF2-40B4-BE49-F238E27FC236}">
                  <a16:creationId xmlns:a16="http://schemas.microsoft.com/office/drawing/2014/main" id="{74E91121-169E-E758-D57A-14986488E7D0}"/>
                </a:ext>
              </a:extLst>
            </p:cNvPr>
            <p:cNvSpPr/>
            <p:nvPr/>
          </p:nvSpPr>
          <p:spPr>
            <a:xfrm>
              <a:off x="1894655" y="2552557"/>
              <a:ext cx="1091589" cy="1091589"/>
            </a:xfrm>
            <a:prstGeom prst="rect">
              <a:avLst/>
            </a:pr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CC11D18E-71FD-4AAA-C1D0-CB880B9A7E09}"/>
                </a:ext>
              </a:extLst>
            </p:cNvPr>
            <p:cNvSpPr/>
            <p:nvPr/>
          </p:nvSpPr>
          <p:spPr>
            <a:xfrm>
              <a:off x="871961" y="3867167"/>
              <a:ext cx="3118826" cy="467823"/>
            </a:xfrm>
            <a:custGeom>
              <a:avLst/>
              <a:gdLst>
                <a:gd name="connsiteX0" fmla="*/ 0 w 3118826"/>
                <a:gd name="connsiteY0" fmla="*/ 0 h 467823"/>
                <a:gd name="connsiteX1" fmla="*/ 3118826 w 3118826"/>
                <a:gd name="connsiteY1" fmla="*/ 0 h 467823"/>
                <a:gd name="connsiteX2" fmla="*/ 3118826 w 3118826"/>
                <a:gd name="connsiteY2" fmla="*/ 467823 h 467823"/>
                <a:gd name="connsiteX3" fmla="*/ 0 w 3118826"/>
                <a:gd name="connsiteY3" fmla="*/ 467823 h 467823"/>
                <a:gd name="connsiteX4" fmla="*/ 0 w 3118826"/>
                <a:gd name="connsiteY4" fmla="*/ 0 h 467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467823">
                  <a:moveTo>
                    <a:pt x="0" y="0"/>
                  </a:moveTo>
                  <a:lnTo>
                    <a:pt x="3118826" y="0"/>
                  </a:lnTo>
                  <a:lnTo>
                    <a:pt x="3118826" y="467823"/>
                  </a:lnTo>
                  <a:lnTo>
                    <a:pt x="0" y="4678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600" kern="1200" noProof="0" dirty="0">
                  <a:latin typeface="Garamond"/>
                </a:rPr>
                <a:t>Proves ownership of a private key without revealing it ​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0C7B15-B5AE-CF7D-EDA1-DFCD8A2039F9}"/>
                </a:ext>
              </a:extLst>
            </p:cNvPr>
            <p:cNvSpPr/>
            <p:nvPr/>
          </p:nvSpPr>
          <p:spPr>
            <a:xfrm>
              <a:off x="881036" y="4242233"/>
              <a:ext cx="3118826" cy="37798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1" name="Rectangle 10" descr="Employee Badge">
              <a:extLst>
                <a:ext uri="{FF2B5EF4-FFF2-40B4-BE49-F238E27FC236}">
                  <a16:creationId xmlns:a16="http://schemas.microsoft.com/office/drawing/2014/main" id="{2CE93E0D-E6CD-52BA-16C3-23E6EAC9EC84}"/>
                </a:ext>
              </a:extLst>
            </p:cNvPr>
            <p:cNvSpPr/>
            <p:nvPr/>
          </p:nvSpPr>
          <p:spPr>
            <a:xfrm>
              <a:off x="5559276" y="2540745"/>
              <a:ext cx="1091589" cy="1091589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A1245746-6A46-3924-1890-DB628161331B}"/>
                </a:ext>
              </a:extLst>
            </p:cNvPr>
            <p:cNvSpPr/>
            <p:nvPr/>
          </p:nvSpPr>
          <p:spPr>
            <a:xfrm>
              <a:off x="4545657" y="3841596"/>
              <a:ext cx="3118826" cy="238931"/>
            </a:xfrm>
            <a:custGeom>
              <a:avLst/>
              <a:gdLst>
                <a:gd name="connsiteX0" fmla="*/ 0 w 3118826"/>
                <a:gd name="connsiteY0" fmla="*/ 0 h 238931"/>
                <a:gd name="connsiteX1" fmla="*/ 3118826 w 3118826"/>
                <a:gd name="connsiteY1" fmla="*/ 0 h 238931"/>
                <a:gd name="connsiteX2" fmla="*/ 3118826 w 3118826"/>
                <a:gd name="connsiteY2" fmla="*/ 238931 h 238931"/>
                <a:gd name="connsiteX3" fmla="*/ 0 w 3118826"/>
                <a:gd name="connsiteY3" fmla="*/ 238931 h 238931"/>
                <a:gd name="connsiteX4" fmla="*/ 0 w 3118826"/>
                <a:gd name="connsiteY4" fmla="*/ 0 h 23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238931">
                  <a:moveTo>
                    <a:pt x="0" y="0"/>
                  </a:moveTo>
                  <a:lnTo>
                    <a:pt x="3118826" y="0"/>
                  </a:lnTo>
                  <a:lnTo>
                    <a:pt x="3118826" y="238931"/>
                  </a:lnTo>
                  <a:lnTo>
                    <a:pt x="0" y="2389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600" kern="1200" noProof="0" dirty="0">
                  <a:latin typeface="Garamond"/>
                </a:rPr>
                <a:t>Used in Ethereum for :​</a:t>
              </a:r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2CDCF8E4-A679-A112-1897-4BBAB4C36F65}"/>
                </a:ext>
              </a:extLst>
            </p:cNvPr>
            <p:cNvSpPr/>
            <p:nvPr/>
          </p:nvSpPr>
          <p:spPr>
            <a:xfrm>
              <a:off x="4536582" y="4110707"/>
              <a:ext cx="3118826" cy="401607"/>
            </a:xfrm>
            <a:custGeom>
              <a:avLst/>
              <a:gdLst>
                <a:gd name="connsiteX0" fmla="*/ 0 w 3118826"/>
                <a:gd name="connsiteY0" fmla="*/ 0 h 401607"/>
                <a:gd name="connsiteX1" fmla="*/ 3118826 w 3118826"/>
                <a:gd name="connsiteY1" fmla="*/ 0 h 401607"/>
                <a:gd name="connsiteX2" fmla="*/ 3118826 w 3118826"/>
                <a:gd name="connsiteY2" fmla="*/ 401607 h 401607"/>
                <a:gd name="connsiteX3" fmla="*/ 0 w 3118826"/>
                <a:gd name="connsiteY3" fmla="*/ 401607 h 401607"/>
                <a:gd name="connsiteX4" fmla="*/ 0 w 3118826"/>
                <a:gd name="connsiteY4" fmla="*/ 0 h 40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401607">
                  <a:moveTo>
                    <a:pt x="0" y="0"/>
                  </a:moveTo>
                  <a:lnTo>
                    <a:pt x="3118826" y="0"/>
                  </a:lnTo>
                  <a:lnTo>
                    <a:pt x="3118826" y="401607"/>
                  </a:lnTo>
                  <a:lnTo>
                    <a:pt x="0" y="4016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noProof="0" dirty="0">
                  <a:latin typeface="Garamond"/>
                </a:rPr>
                <a:t>Transaction signing ​</a:t>
              </a:r>
            </a:p>
            <a:p>
              <a:pPr marL="0" lvl="0" indent="0" algn="ctr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noProof="0" dirty="0">
                  <a:latin typeface="Garamond"/>
                </a:rPr>
                <a:t>Validator Authentication​</a:t>
              </a:r>
            </a:p>
          </p:txBody>
        </p:sp>
        <p:sp>
          <p:nvSpPr>
            <p:cNvPr id="14" name="Rectangle 13" descr="Unlock">
              <a:extLst>
                <a:ext uri="{FF2B5EF4-FFF2-40B4-BE49-F238E27FC236}">
                  <a16:creationId xmlns:a16="http://schemas.microsoft.com/office/drawing/2014/main" id="{AF1FE150-23C5-59A8-9790-1AD6D1681FCA}"/>
                </a:ext>
              </a:extLst>
            </p:cNvPr>
            <p:cNvSpPr/>
            <p:nvPr/>
          </p:nvSpPr>
          <p:spPr>
            <a:xfrm>
              <a:off x="9223897" y="2552557"/>
              <a:ext cx="1091589" cy="1091589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DD9CB8FE-CB6A-ECFF-C978-1D8F9E8EBFE4}"/>
                </a:ext>
              </a:extLst>
            </p:cNvPr>
            <p:cNvSpPr/>
            <p:nvPr/>
          </p:nvSpPr>
          <p:spPr>
            <a:xfrm>
              <a:off x="8210278" y="3821043"/>
              <a:ext cx="3118826" cy="280036"/>
            </a:xfrm>
            <a:custGeom>
              <a:avLst/>
              <a:gdLst>
                <a:gd name="connsiteX0" fmla="*/ 0 w 3118826"/>
                <a:gd name="connsiteY0" fmla="*/ 0 h 467823"/>
                <a:gd name="connsiteX1" fmla="*/ 3118826 w 3118826"/>
                <a:gd name="connsiteY1" fmla="*/ 0 h 467823"/>
                <a:gd name="connsiteX2" fmla="*/ 3118826 w 3118826"/>
                <a:gd name="connsiteY2" fmla="*/ 467823 h 467823"/>
                <a:gd name="connsiteX3" fmla="*/ 0 w 3118826"/>
                <a:gd name="connsiteY3" fmla="*/ 467823 h 467823"/>
                <a:gd name="connsiteX4" fmla="*/ 0 w 3118826"/>
                <a:gd name="connsiteY4" fmla="*/ 0 h 467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467823">
                  <a:moveTo>
                    <a:pt x="0" y="0"/>
                  </a:moveTo>
                  <a:lnTo>
                    <a:pt x="3118826" y="0"/>
                  </a:lnTo>
                  <a:lnTo>
                    <a:pt x="3118826" y="467823"/>
                  </a:lnTo>
                  <a:lnTo>
                    <a:pt x="0" y="4678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600" kern="1200" noProof="0" dirty="0">
                  <a:latin typeface="Garamond"/>
                </a:rPr>
                <a:t>Currently, Ethereum uses ECDSA:​</a:t>
              </a:r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D48AC852-9B9A-B24A-8652-7DAF3BF7BA0C}"/>
                </a:ext>
              </a:extLst>
            </p:cNvPr>
            <p:cNvSpPr/>
            <p:nvPr/>
          </p:nvSpPr>
          <p:spPr>
            <a:xfrm>
              <a:off x="8192138" y="4122519"/>
              <a:ext cx="3118826" cy="377983"/>
            </a:xfrm>
            <a:custGeom>
              <a:avLst/>
              <a:gdLst>
                <a:gd name="connsiteX0" fmla="*/ 0 w 3118826"/>
                <a:gd name="connsiteY0" fmla="*/ 0 h 377983"/>
                <a:gd name="connsiteX1" fmla="*/ 3118826 w 3118826"/>
                <a:gd name="connsiteY1" fmla="*/ 0 h 377983"/>
                <a:gd name="connsiteX2" fmla="*/ 3118826 w 3118826"/>
                <a:gd name="connsiteY2" fmla="*/ 377983 h 377983"/>
                <a:gd name="connsiteX3" fmla="*/ 0 w 3118826"/>
                <a:gd name="connsiteY3" fmla="*/ 377983 h 377983"/>
                <a:gd name="connsiteX4" fmla="*/ 0 w 3118826"/>
                <a:gd name="connsiteY4" fmla="*/ 0 h 377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377983">
                  <a:moveTo>
                    <a:pt x="0" y="0"/>
                  </a:moveTo>
                  <a:lnTo>
                    <a:pt x="3118826" y="0"/>
                  </a:lnTo>
                  <a:lnTo>
                    <a:pt x="3118826" y="377983"/>
                  </a:lnTo>
                  <a:lnTo>
                    <a:pt x="0" y="37798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noProof="0" dirty="0">
                  <a:latin typeface="Garamond"/>
                </a:rPr>
                <a:t>Based on elliptic curve discrete logarithm problem</a:t>
              </a:r>
            </a:p>
            <a:p>
              <a:pPr marL="0" lvl="0" indent="0" algn="ctr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kern="1200" noProof="0" dirty="0">
                  <a:latin typeface="Garamond"/>
                </a:rPr>
                <a:t>Efficient, but broken by Shor’s algorithm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9397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C4F59-4A50-264A-6A1C-BD078ABDA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0A43B7-7849-CC57-1B27-0A010F18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9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26DC751-6344-9787-8F7F-EC3760B4F4BE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21BBE944-FD50-66E0-1B8A-CA616B93A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447" y="1652492"/>
            <a:ext cx="1016910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noProof="0" dirty="0">
              <a:latin typeface="Garamond"/>
              <a:ea typeface="Calibri"/>
              <a:cs typeface="Calibri"/>
            </a:endParaRPr>
          </a:p>
          <a:p>
            <a:endParaRPr lang="en-US" noProof="0" dirty="0">
              <a:latin typeface="Apple Garamond" panose="02000506080000020004" pitchFamily="2" charset="0"/>
              <a:ea typeface="Calibri"/>
              <a:cs typeface="Calibri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D5CE0B15-DF1B-B040-845E-BC1E769CBAE7}"/>
              </a:ext>
            </a:extLst>
          </p:cNvPr>
          <p:cNvGrpSpPr/>
          <p:nvPr/>
        </p:nvGrpSpPr>
        <p:grpSpPr>
          <a:xfrm>
            <a:off x="825219" y="3116228"/>
            <a:ext cx="10506470" cy="2089280"/>
            <a:chOff x="871961" y="2540745"/>
            <a:chExt cx="10457143" cy="2079471"/>
          </a:xfrm>
        </p:grpSpPr>
        <p:sp>
          <p:nvSpPr>
            <p:cNvPr id="6" name="Rectangle 5" descr="Flèches de chevron avec un remplissage uni">
              <a:extLst>
                <a:ext uri="{FF2B5EF4-FFF2-40B4-BE49-F238E27FC236}">
                  <a16:creationId xmlns:a16="http://schemas.microsoft.com/office/drawing/2014/main" id="{0F4D8DB5-BBDE-DAE7-D054-C438092A183E}"/>
                </a:ext>
              </a:extLst>
            </p:cNvPr>
            <p:cNvSpPr/>
            <p:nvPr/>
          </p:nvSpPr>
          <p:spPr>
            <a:xfrm>
              <a:off x="1894655" y="2552557"/>
              <a:ext cx="1091589" cy="1091589"/>
            </a:xfrm>
            <a:prstGeom prst="rect">
              <a:avLst/>
            </a:pr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F57AF1BC-1CA2-C3D8-67EC-7B0AB53D26D6}"/>
                </a:ext>
              </a:extLst>
            </p:cNvPr>
            <p:cNvSpPr/>
            <p:nvPr/>
          </p:nvSpPr>
          <p:spPr>
            <a:xfrm>
              <a:off x="871961" y="3844105"/>
              <a:ext cx="3118826" cy="467823"/>
            </a:xfrm>
            <a:custGeom>
              <a:avLst/>
              <a:gdLst>
                <a:gd name="connsiteX0" fmla="*/ 0 w 3118826"/>
                <a:gd name="connsiteY0" fmla="*/ 0 h 467823"/>
                <a:gd name="connsiteX1" fmla="*/ 3118826 w 3118826"/>
                <a:gd name="connsiteY1" fmla="*/ 0 h 467823"/>
                <a:gd name="connsiteX2" fmla="*/ 3118826 w 3118826"/>
                <a:gd name="connsiteY2" fmla="*/ 467823 h 467823"/>
                <a:gd name="connsiteX3" fmla="*/ 0 w 3118826"/>
                <a:gd name="connsiteY3" fmla="*/ 467823 h 467823"/>
                <a:gd name="connsiteX4" fmla="*/ 0 w 3118826"/>
                <a:gd name="connsiteY4" fmla="*/ 0 h 467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467823">
                  <a:moveTo>
                    <a:pt x="0" y="0"/>
                  </a:moveTo>
                  <a:lnTo>
                    <a:pt x="3118826" y="0"/>
                  </a:lnTo>
                  <a:lnTo>
                    <a:pt x="3118826" y="467823"/>
                  </a:lnTo>
                  <a:lnTo>
                    <a:pt x="0" y="4678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500" kern="1200" noProof="0" dirty="0">
                  <a:latin typeface="Garamond"/>
                </a:rPr>
                <a:t>Fast verification </a:t>
              </a:r>
            </a:p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500" kern="1200" noProof="0" dirty="0">
                  <a:latin typeface="Garamond"/>
                </a:rPr>
                <a:t>(important for Ethereum)</a:t>
              </a:r>
            </a:p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500" kern="1200" noProof="0" dirty="0">
                  <a:latin typeface="Garamond"/>
                </a:rPr>
                <a:t>​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038122-87B9-3D4B-54ED-C61675E759FE}"/>
                </a:ext>
              </a:extLst>
            </p:cNvPr>
            <p:cNvSpPr/>
            <p:nvPr/>
          </p:nvSpPr>
          <p:spPr>
            <a:xfrm>
              <a:off x="881036" y="4242233"/>
              <a:ext cx="3118826" cy="37798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1" name="Rectangle 10" descr="Culturiste avec un remplissage uni">
              <a:extLst>
                <a:ext uri="{FF2B5EF4-FFF2-40B4-BE49-F238E27FC236}">
                  <a16:creationId xmlns:a16="http://schemas.microsoft.com/office/drawing/2014/main" id="{F279D5D9-62A2-EBA6-2A5E-9FD96B45EB9E}"/>
                </a:ext>
              </a:extLst>
            </p:cNvPr>
            <p:cNvSpPr/>
            <p:nvPr/>
          </p:nvSpPr>
          <p:spPr>
            <a:xfrm>
              <a:off x="5559276" y="2540745"/>
              <a:ext cx="1091589" cy="1091589"/>
            </a:xfrm>
            <a:prstGeom prst="rect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6BF0C612-3F80-F03A-3D72-5E5489437255}"/>
                </a:ext>
              </a:extLst>
            </p:cNvPr>
            <p:cNvSpPr/>
            <p:nvPr/>
          </p:nvSpPr>
          <p:spPr>
            <a:xfrm>
              <a:off x="4545657" y="3958551"/>
              <a:ext cx="3118826" cy="238931"/>
            </a:xfrm>
            <a:custGeom>
              <a:avLst/>
              <a:gdLst>
                <a:gd name="connsiteX0" fmla="*/ 0 w 3118826"/>
                <a:gd name="connsiteY0" fmla="*/ 0 h 238931"/>
                <a:gd name="connsiteX1" fmla="*/ 3118826 w 3118826"/>
                <a:gd name="connsiteY1" fmla="*/ 0 h 238931"/>
                <a:gd name="connsiteX2" fmla="*/ 3118826 w 3118826"/>
                <a:gd name="connsiteY2" fmla="*/ 238931 h 238931"/>
                <a:gd name="connsiteX3" fmla="*/ 0 w 3118826"/>
                <a:gd name="connsiteY3" fmla="*/ 238931 h 238931"/>
                <a:gd name="connsiteX4" fmla="*/ 0 w 3118826"/>
                <a:gd name="connsiteY4" fmla="*/ 0 h 23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238931">
                  <a:moveTo>
                    <a:pt x="0" y="0"/>
                  </a:moveTo>
                  <a:lnTo>
                    <a:pt x="3118826" y="0"/>
                  </a:lnTo>
                  <a:lnTo>
                    <a:pt x="3118826" y="238931"/>
                  </a:lnTo>
                  <a:lnTo>
                    <a:pt x="0" y="2389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500" kern="1200" noProof="0" dirty="0">
                  <a:latin typeface="Garamond"/>
                </a:rPr>
                <a:t>Relatively large signature sizes</a:t>
              </a:r>
            </a:p>
          </p:txBody>
        </p:sp>
        <p:sp>
          <p:nvSpPr>
            <p:cNvPr id="14" name="Rectangle 13" descr="Outils avec un remplissage uni">
              <a:extLst>
                <a:ext uri="{FF2B5EF4-FFF2-40B4-BE49-F238E27FC236}">
                  <a16:creationId xmlns:a16="http://schemas.microsoft.com/office/drawing/2014/main" id="{6F1FF003-FD43-D06B-544A-358FF1D70C99}"/>
                </a:ext>
              </a:extLst>
            </p:cNvPr>
            <p:cNvSpPr/>
            <p:nvPr/>
          </p:nvSpPr>
          <p:spPr>
            <a:xfrm>
              <a:off x="9223897" y="2552557"/>
              <a:ext cx="1091589" cy="1091589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A8F86D97-A9D4-6A80-45AB-0D9468AC343C}"/>
                </a:ext>
              </a:extLst>
            </p:cNvPr>
            <p:cNvSpPr/>
            <p:nvPr/>
          </p:nvSpPr>
          <p:spPr>
            <a:xfrm>
              <a:off x="8210278" y="3821044"/>
              <a:ext cx="3118826" cy="513947"/>
            </a:xfrm>
            <a:custGeom>
              <a:avLst/>
              <a:gdLst>
                <a:gd name="connsiteX0" fmla="*/ 0 w 3118826"/>
                <a:gd name="connsiteY0" fmla="*/ 0 h 467823"/>
                <a:gd name="connsiteX1" fmla="*/ 3118826 w 3118826"/>
                <a:gd name="connsiteY1" fmla="*/ 0 h 467823"/>
                <a:gd name="connsiteX2" fmla="*/ 3118826 w 3118826"/>
                <a:gd name="connsiteY2" fmla="*/ 467823 h 467823"/>
                <a:gd name="connsiteX3" fmla="*/ 0 w 3118826"/>
                <a:gd name="connsiteY3" fmla="*/ 467823 h 467823"/>
                <a:gd name="connsiteX4" fmla="*/ 0 w 3118826"/>
                <a:gd name="connsiteY4" fmla="*/ 0 h 467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467823">
                  <a:moveTo>
                    <a:pt x="0" y="0"/>
                  </a:moveTo>
                  <a:lnTo>
                    <a:pt x="3118826" y="0"/>
                  </a:lnTo>
                  <a:lnTo>
                    <a:pt x="3118826" y="467823"/>
                  </a:lnTo>
                  <a:lnTo>
                    <a:pt x="0" y="4678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500" kern="1200" noProof="0" dirty="0">
                  <a:latin typeface="Garamond"/>
                </a:rPr>
                <a:t>Requires EVM adaptation for efficient polynomial arithmetic​</a:t>
              </a:r>
            </a:p>
          </p:txBody>
        </p:sp>
      </p:grpSp>
      <p:sp>
        <p:nvSpPr>
          <p:cNvPr id="18" name="Titre 1">
            <a:extLst>
              <a:ext uri="{FF2B5EF4-FFF2-40B4-BE49-F238E27FC236}">
                <a16:creationId xmlns:a16="http://schemas.microsoft.com/office/drawing/2014/main" id="{33EC12A5-A457-7CF0-11BE-A7EDF132934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890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noProof="0" dirty="0">
                <a:latin typeface="Gill Sans MT Condensed"/>
              </a:rPr>
              <a:t>CRYPTOGRAPHIC BACKGROUND      	       	     LATTICE-BASED SIGNATURES</a:t>
            </a:r>
            <a:endParaRPr lang="en-US" noProof="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EFFA237-D0CE-5FC0-AB51-B93D13BD98D1}"/>
              </a:ext>
            </a:extLst>
          </p:cNvPr>
          <p:cNvSpPr txBox="1"/>
          <p:nvPr/>
        </p:nvSpPr>
        <p:spPr>
          <a:xfrm>
            <a:off x="1688028" y="1569446"/>
            <a:ext cx="87899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noProof="0" dirty="0">
                <a:latin typeface="Garamond" panose="02020404030301010803" pitchFamily="18" charset="0"/>
              </a:rPr>
              <a:t>Lattices are discrete grids in n-dimensional space,  </a:t>
            </a:r>
          </a:p>
          <a:p>
            <a:pPr algn="ctr"/>
            <a:r>
              <a:rPr lang="en-US" sz="2400" noProof="0" dirty="0">
                <a:latin typeface="Garamond" panose="02020404030301010803" pitchFamily="18" charset="0"/>
              </a:rPr>
              <a:t>and serve as a base for hard problems Quantum computer can not solve</a:t>
            </a:r>
          </a:p>
        </p:txBody>
      </p:sp>
    </p:spTree>
    <p:extLst>
      <p:ext uri="{BB962C8B-B14F-4D97-AF65-F5344CB8AC3E}">
        <p14:creationId xmlns:p14="http://schemas.microsoft.com/office/powerpoint/2010/main" val="678342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A8B4-3670-3030-91A9-64A8A2B2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922894-33AC-06AB-8B64-E6ED532B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10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E145EAB0-9B3A-FF59-6377-830C549BED46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B706A0B-372B-74F9-89C9-039FD1B42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447" y="1652492"/>
            <a:ext cx="1016910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noProof="0" dirty="0">
              <a:latin typeface="Garamond"/>
              <a:ea typeface="Calibri"/>
              <a:cs typeface="Calibri"/>
            </a:endParaRPr>
          </a:p>
          <a:p>
            <a:endParaRPr lang="en-US" noProof="0" dirty="0">
              <a:latin typeface="Apple Garamond" panose="02000506080000020004" pitchFamily="2" charset="0"/>
              <a:ea typeface="Calibri"/>
              <a:cs typeface="Calibri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5444007-EA0D-5053-B8A7-037DCAA14E88}"/>
              </a:ext>
            </a:extLst>
          </p:cNvPr>
          <p:cNvGrpSpPr/>
          <p:nvPr/>
        </p:nvGrpSpPr>
        <p:grpSpPr>
          <a:xfrm>
            <a:off x="825219" y="3116228"/>
            <a:ext cx="10506470" cy="2089280"/>
            <a:chOff x="871961" y="2540745"/>
            <a:chExt cx="10457143" cy="2079471"/>
          </a:xfrm>
        </p:grpSpPr>
        <p:sp>
          <p:nvSpPr>
            <p:cNvPr id="6" name="Rectangle 5" descr="Bras musclé avec un remplissage uni">
              <a:extLst>
                <a:ext uri="{FF2B5EF4-FFF2-40B4-BE49-F238E27FC236}">
                  <a16:creationId xmlns:a16="http://schemas.microsoft.com/office/drawing/2014/main" id="{8D26C238-CB15-99FF-617D-3BDAF6ADEA80}"/>
                </a:ext>
              </a:extLst>
            </p:cNvPr>
            <p:cNvSpPr/>
            <p:nvPr/>
          </p:nvSpPr>
          <p:spPr>
            <a:xfrm>
              <a:off x="1894655" y="2552557"/>
              <a:ext cx="1091589" cy="1091589"/>
            </a:xfrm>
            <a:prstGeom prst="rect">
              <a:avLst/>
            </a:pr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BF884759-A62D-472B-418D-F28660D4032A}"/>
                </a:ext>
              </a:extLst>
            </p:cNvPr>
            <p:cNvSpPr/>
            <p:nvPr/>
          </p:nvSpPr>
          <p:spPr>
            <a:xfrm>
              <a:off x="871961" y="3844105"/>
              <a:ext cx="3118826" cy="467823"/>
            </a:xfrm>
            <a:custGeom>
              <a:avLst/>
              <a:gdLst>
                <a:gd name="connsiteX0" fmla="*/ 0 w 3118826"/>
                <a:gd name="connsiteY0" fmla="*/ 0 h 467823"/>
                <a:gd name="connsiteX1" fmla="*/ 3118826 w 3118826"/>
                <a:gd name="connsiteY1" fmla="*/ 0 h 467823"/>
                <a:gd name="connsiteX2" fmla="*/ 3118826 w 3118826"/>
                <a:gd name="connsiteY2" fmla="*/ 467823 h 467823"/>
                <a:gd name="connsiteX3" fmla="*/ 0 w 3118826"/>
                <a:gd name="connsiteY3" fmla="*/ 467823 h 467823"/>
                <a:gd name="connsiteX4" fmla="*/ 0 w 3118826"/>
                <a:gd name="connsiteY4" fmla="*/ 0 h 467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467823">
                  <a:moveTo>
                    <a:pt x="0" y="0"/>
                  </a:moveTo>
                  <a:lnTo>
                    <a:pt x="3118826" y="0"/>
                  </a:lnTo>
                  <a:lnTo>
                    <a:pt x="3118826" y="467823"/>
                  </a:lnTo>
                  <a:lnTo>
                    <a:pt x="0" y="4678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500" noProof="0" dirty="0">
                  <a:latin typeface="Garamond"/>
                </a:rPr>
                <a:t>Easily adaptable to resist quantum attacks</a:t>
              </a:r>
              <a:endParaRPr lang="en-US" sz="1500" kern="1200" noProof="0" dirty="0">
                <a:latin typeface="Garamond"/>
              </a:endParaRPr>
            </a:p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500" kern="1200" noProof="0" dirty="0">
                  <a:latin typeface="Garamond"/>
                </a:rPr>
                <a:t>​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112489-28E0-73DF-1F4A-18543DBE16C3}"/>
                </a:ext>
              </a:extLst>
            </p:cNvPr>
            <p:cNvSpPr/>
            <p:nvPr/>
          </p:nvSpPr>
          <p:spPr>
            <a:xfrm>
              <a:off x="881036" y="4242233"/>
              <a:ext cx="3118826" cy="37798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1" name="Rectangle 10" descr="Éléphant avec un remplissage uni">
              <a:extLst>
                <a:ext uri="{FF2B5EF4-FFF2-40B4-BE49-F238E27FC236}">
                  <a16:creationId xmlns:a16="http://schemas.microsoft.com/office/drawing/2014/main" id="{EEE9603B-27E6-D2D1-91DD-AD3C26D911D7}"/>
                </a:ext>
              </a:extLst>
            </p:cNvPr>
            <p:cNvSpPr/>
            <p:nvPr/>
          </p:nvSpPr>
          <p:spPr>
            <a:xfrm>
              <a:off x="5559276" y="2540745"/>
              <a:ext cx="1091589" cy="1091589"/>
            </a:xfrm>
            <a:prstGeom prst="rect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9ABA610-B86D-B1A2-7358-060B6F29CFC9}"/>
                </a:ext>
              </a:extLst>
            </p:cNvPr>
            <p:cNvSpPr/>
            <p:nvPr/>
          </p:nvSpPr>
          <p:spPr>
            <a:xfrm>
              <a:off x="4545657" y="3958551"/>
              <a:ext cx="3118826" cy="283682"/>
            </a:xfrm>
            <a:custGeom>
              <a:avLst/>
              <a:gdLst>
                <a:gd name="connsiteX0" fmla="*/ 0 w 3118826"/>
                <a:gd name="connsiteY0" fmla="*/ 0 h 238931"/>
                <a:gd name="connsiteX1" fmla="*/ 3118826 w 3118826"/>
                <a:gd name="connsiteY1" fmla="*/ 0 h 238931"/>
                <a:gd name="connsiteX2" fmla="*/ 3118826 w 3118826"/>
                <a:gd name="connsiteY2" fmla="*/ 238931 h 238931"/>
                <a:gd name="connsiteX3" fmla="*/ 0 w 3118826"/>
                <a:gd name="connsiteY3" fmla="*/ 238931 h 238931"/>
                <a:gd name="connsiteX4" fmla="*/ 0 w 3118826"/>
                <a:gd name="connsiteY4" fmla="*/ 0 h 23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238931">
                  <a:moveTo>
                    <a:pt x="0" y="0"/>
                  </a:moveTo>
                  <a:lnTo>
                    <a:pt x="3118826" y="0"/>
                  </a:lnTo>
                  <a:lnTo>
                    <a:pt x="3118826" y="238931"/>
                  </a:lnTo>
                  <a:lnTo>
                    <a:pt x="0" y="23893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500" kern="1200" noProof="0" dirty="0">
                  <a:latin typeface="Garamond"/>
                </a:rPr>
                <a:t>Huge signature sizes</a:t>
              </a:r>
            </a:p>
          </p:txBody>
        </p:sp>
        <p:sp>
          <p:nvSpPr>
            <p:cNvPr id="14" name="Rectangle 13" descr="Tortue avec un remplissage uni">
              <a:extLst>
                <a:ext uri="{FF2B5EF4-FFF2-40B4-BE49-F238E27FC236}">
                  <a16:creationId xmlns:a16="http://schemas.microsoft.com/office/drawing/2014/main" id="{086805B3-6AB2-A4DB-7B6C-A3E6BF36E71D}"/>
                </a:ext>
              </a:extLst>
            </p:cNvPr>
            <p:cNvSpPr/>
            <p:nvPr/>
          </p:nvSpPr>
          <p:spPr>
            <a:xfrm>
              <a:off x="9223897" y="2552557"/>
              <a:ext cx="1091589" cy="1091589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65C30092-2AAD-E40A-3A2B-85DC89F3F255}"/>
                </a:ext>
              </a:extLst>
            </p:cNvPr>
            <p:cNvSpPr/>
            <p:nvPr/>
          </p:nvSpPr>
          <p:spPr>
            <a:xfrm>
              <a:off x="8210278" y="3821044"/>
              <a:ext cx="3118826" cy="513947"/>
            </a:xfrm>
            <a:custGeom>
              <a:avLst/>
              <a:gdLst>
                <a:gd name="connsiteX0" fmla="*/ 0 w 3118826"/>
                <a:gd name="connsiteY0" fmla="*/ 0 h 467823"/>
                <a:gd name="connsiteX1" fmla="*/ 3118826 w 3118826"/>
                <a:gd name="connsiteY1" fmla="*/ 0 h 467823"/>
                <a:gd name="connsiteX2" fmla="*/ 3118826 w 3118826"/>
                <a:gd name="connsiteY2" fmla="*/ 467823 h 467823"/>
                <a:gd name="connsiteX3" fmla="*/ 0 w 3118826"/>
                <a:gd name="connsiteY3" fmla="*/ 467823 h 467823"/>
                <a:gd name="connsiteX4" fmla="*/ 0 w 3118826"/>
                <a:gd name="connsiteY4" fmla="*/ 0 h 467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826" h="467823">
                  <a:moveTo>
                    <a:pt x="0" y="0"/>
                  </a:moveTo>
                  <a:lnTo>
                    <a:pt x="3118826" y="0"/>
                  </a:lnTo>
                  <a:lnTo>
                    <a:pt x="3118826" y="467823"/>
                  </a:lnTo>
                  <a:lnTo>
                    <a:pt x="0" y="46782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1500" kern="1200" noProof="0" dirty="0">
                  <a:latin typeface="Garamond"/>
                </a:rPr>
                <a:t>Slow signing and verification</a:t>
              </a:r>
            </a:p>
          </p:txBody>
        </p:sp>
      </p:grpSp>
      <p:sp>
        <p:nvSpPr>
          <p:cNvPr id="18" name="Titre 1">
            <a:extLst>
              <a:ext uri="{FF2B5EF4-FFF2-40B4-BE49-F238E27FC236}">
                <a16:creationId xmlns:a16="http://schemas.microsoft.com/office/drawing/2014/main" id="{6A151008-26F8-EFCF-09A9-2A98C9AFFC4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890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noProof="0" dirty="0">
                <a:latin typeface="Gill Sans MT Condensed"/>
              </a:rPr>
              <a:t>CRYPTOGRAPHIC BACKGROUND      	       	       HASH-BASED SIGNATURES</a:t>
            </a:r>
            <a:endParaRPr lang="en-US" noProof="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324D168-1643-4828-111A-04796C6CB650}"/>
              </a:ext>
            </a:extLst>
          </p:cNvPr>
          <p:cNvSpPr txBox="1"/>
          <p:nvPr/>
        </p:nvSpPr>
        <p:spPr>
          <a:xfrm>
            <a:off x="2520262" y="1569446"/>
            <a:ext cx="71255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noProof="0" dirty="0">
                <a:latin typeface="Garamond" panose="02020404030301010803" pitchFamily="18" charset="0"/>
              </a:rPr>
              <a:t>Based on hash functions, rely on their inherent properties </a:t>
            </a:r>
          </a:p>
          <a:p>
            <a:pPr algn="ctr"/>
            <a:r>
              <a:rPr lang="en-US" sz="2400" noProof="0" dirty="0">
                <a:latin typeface="Garamond" panose="02020404030301010803" pitchFamily="18" charset="0"/>
              </a:rPr>
              <a:t>(preimage and collision resistance)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618506B-EEB6-522D-359F-43286FBD06F7}"/>
              </a:ext>
            </a:extLst>
          </p:cNvPr>
          <p:cNvSpPr txBox="1"/>
          <p:nvPr/>
        </p:nvSpPr>
        <p:spPr>
          <a:xfrm>
            <a:off x="5605320" y="4733216"/>
            <a:ext cx="9813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latin typeface="Garamond"/>
              </a:rPr>
              <a:t>(up to 64KB)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947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8B42B-14C1-419A-AE03-BEDA52D3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561112"/>
          </a:xfrm>
        </p:spPr>
        <p:txBody>
          <a:bodyPr/>
          <a:lstStyle/>
          <a:p>
            <a:r>
              <a:rPr lang="en-US" noProof="0" dirty="0">
                <a:latin typeface="Gill Sans MT Condensed" panose="020B0506020104020203" pitchFamily="34" charset="0"/>
                <a:ea typeface="Roboto" panose="02000000000000000000" pitchFamily="2" charset="0"/>
              </a:rPr>
              <a:t>NIST STANDARD SCHEMES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098B94-B6EE-487E-A18F-D99F01AC4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noProof="0" dirty="0">
                <a:solidFill>
                  <a:schemeClr val="tx1"/>
                </a:solidFill>
                <a:latin typeface="Garamond" panose="02020404030301010803" pitchFamily="18" charset="0"/>
              </a:rPr>
              <a:t>Understanding the candidates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3B6681-CA3E-47E0-B990-45106277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6212" y="6367301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11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5348AF1-6D2B-4202-953D-D16AECE69A4F}"/>
              </a:ext>
            </a:extLst>
          </p:cNvPr>
          <p:cNvCxnSpPr/>
          <p:nvPr/>
        </p:nvCxnSpPr>
        <p:spPr>
          <a:xfrm>
            <a:off x="876072" y="4484393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298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070E1-2507-4858-BF5E-43E3EA96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NIST STANDARDS	            				               SLH-DSA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C4F6D0-3022-4A45-9E92-1010A623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12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9B8B25E-8A4A-491D-8EC5-0B0750A88505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Espace réservé du contenu 2">
            <a:extLst>
              <a:ext uri="{FF2B5EF4-FFF2-40B4-BE49-F238E27FC236}">
                <a16:creationId xmlns:a16="http://schemas.microsoft.com/office/drawing/2014/main" id="{1AD07D31-205D-6568-7C3C-5EAB69EB8E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029253"/>
              </p:ext>
            </p:extLst>
          </p:nvPr>
        </p:nvGraphicFramePr>
        <p:xfrm>
          <a:off x="1011447" y="1652491"/>
          <a:ext cx="10320242" cy="472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0454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84BD3-5E26-0D61-2451-8E0E21AE2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B531AE-B4DD-A68B-D1A2-A9DDDCEC8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NIST STANDARDS	            				               SLH-DSA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24BDD7-8A60-AB87-DC1A-91787F86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13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D883948-E423-7642-F5E8-A06FB852E344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347C4DBC-F547-CE6D-B31D-D426F20F3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11" y="1711512"/>
            <a:ext cx="10515600" cy="3803920"/>
          </a:xfrm>
        </p:spPr>
      </p:pic>
    </p:spTree>
    <p:extLst>
      <p:ext uri="{BB962C8B-B14F-4D97-AF65-F5344CB8AC3E}">
        <p14:creationId xmlns:p14="http://schemas.microsoft.com/office/powerpoint/2010/main" val="2940238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044E-078A-7CFD-8BF9-C06308EF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683A0F-B252-B2B2-FB52-3AB4475F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14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08E240-2C28-462A-23B1-E8F81575E41A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D7335BC4-C74A-78A3-44C6-1ECB56E53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265516"/>
              </p:ext>
            </p:extLst>
          </p:nvPr>
        </p:nvGraphicFramePr>
        <p:xfrm>
          <a:off x="683079" y="1869554"/>
          <a:ext cx="10515600" cy="108323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410737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02723642"/>
                    </a:ext>
                  </a:extLst>
                </a:gridCol>
              </a:tblGrid>
              <a:tr h="504117"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chemeClr val="accent6"/>
                        </a:buClr>
                        <a:buFont typeface="Garamond" panose="02020404030301010803" pitchFamily="18" charset="0"/>
                        <a:buChar char="+"/>
                      </a:pPr>
                      <a:r>
                        <a:rPr lang="en-US" b="0" noProof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SIMPLE TO IMPLEMENT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C00000"/>
                        </a:buClr>
                        <a:buFont typeface="Garamond" panose="02020404030301010803" pitchFamily="18" charset="0"/>
                        <a:buChar char="−"/>
                      </a:pPr>
                      <a:r>
                        <a:rPr lang="en-US" sz="1600" b="0" noProof="0" dirty="0">
                          <a:latin typeface="Garamond" panose="02020404030301010803" pitchFamily="18" charset="0"/>
                        </a:rPr>
                        <a:t>HEAVY KEY (up to 32KB) AND SIGNATURE (up to 64KB) SIZE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782190"/>
                  </a:ext>
                </a:extLst>
              </a:tr>
              <a:tr h="504117"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chemeClr val="accent6"/>
                        </a:buClr>
                        <a:buFont typeface="Garamond" panose="02020404030301010803" pitchFamily="18" charset="0"/>
                        <a:buChar char="+"/>
                      </a:pPr>
                      <a:r>
                        <a:rPr lang="en-US" b="0" noProof="0" dirty="0">
                          <a:latin typeface="Garamond" panose="02020404030301010803" pitchFamily="18" charset="0"/>
                        </a:rPr>
                        <a:t>SIDE CHANNEL RESISTANT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C00000"/>
                        </a:buClr>
                        <a:buFont typeface="Garamond" panose="02020404030301010803" pitchFamily="18" charset="0"/>
                        <a:buChar char="−"/>
                      </a:pPr>
                      <a:r>
                        <a:rPr lang="en-US" b="0" noProof="0" dirty="0">
                          <a:latin typeface="Garamond" panose="02020404030301010803" pitchFamily="18" charset="0"/>
                        </a:rPr>
                        <a:t>SLOW SIGNING AND VERIFICATION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965219"/>
                  </a:ext>
                </a:extLst>
              </a:tr>
            </a:tbl>
          </a:graphicData>
        </a:graphic>
      </p:graphicFrame>
      <p:sp>
        <p:nvSpPr>
          <p:cNvPr id="7" name="Titre 1">
            <a:extLst>
              <a:ext uri="{FF2B5EF4-FFF2-40B4-BE49-F238E27FC236}">
                <a16:creationId xmlns:a16="http://schemas.microsoft.com/office/drawing/2014/main" id="{2B52211E-9AF4-590C-BE65-4C9CD122DD7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890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latin typeface="Gill Sans MT Condensed" panose="020B0506020104020203" pitchFamily="34" charset="0"/>
              </a:rPr>
              <a:t>NIST STANDARDS	            				               SLH-DSA</a:t>
            </a:r>
            <a:endParaRPr lang="en-US" sz="3200" dirty="0">
              <a:latin typeface="Gill Sans MT Condensed" panose="020B0506020104020203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7934E7-32BD-CECB-9B2D-6228209A045C}"/>
              </a:ext>
            </a:extLst>
          </p:cNvPr>
          <p:cNvSpPr txBox="1"/>
          <p:nvPr/>
        </p:nvSpPr>
        <p:spPr>
          <a:xfrm>
            <a:off x="1803496" y="4359728"/>
            <a:ext cx="82747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Garamond" panose="02020404030301010803" pitchFamily="18" charset="0"/>
              </a:rPr>
              <a:t>NOT SUITED FOR BLOCKCHAIN ENVIRONNEMENTS</a:t>
            </a:r>
          </a:p>
        </p:txBody>
      </p:sp>
    </p:spTree>
    <p:extLst>
      <p:ext uri="{BB962C8B-B14F-4D97-AF65-F5344CB8AC3E}">
        <p14:creationId xmlns:p14="http://schemas.microsoft.com/office/powerpoint/2010/main" val="1459458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6BB36-E5D7-C6B9-1B0B-4C04EDEC1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E4937-083A-CC8E-87F9-FC71A837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NIST STANDARDS	            				               FALCON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5F3C93-7D3C-67C3-08CB-AAAD68B5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15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B361E50-5A39-0F69-1442-BA563588277B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Espace réservé du contenu 2">
            <a:extLst>
              <a:ext uri="{FF2B5EF4-FFF2-40B4-BE49-F238E27FC236}">
                <a16:creationId xmlns:a16="http://schemas.microsoft.com/office/drawing/2014/main" id="{99A4CDDA-8743-3CD3-2A26-88A1A2CE46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3918444"/>
              </p:ext>
            </p:extLst>
          </p:nvPr>
        </p:nvGraphicFramePr>
        <p:xfrm>
          <a:off x="1011447" y="1652491"/>
          <a:ext cx="10320242" cy="472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5405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4DEF7-A3D7-CA30-8552-0ED851D4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929594-2575-3FB6-2862-940555D9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NIST STANDARDS	            				               FALCON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EF5110-B224-7027-5F48-E5C54FA6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16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FEDEB24-525E-CD4D-D40F-FD34D577B20C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92BD3B60-78A5-E119-427C-2A9F1FF2B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02" y="1541665"/>
            <a:ext cx="10735996" cy="3774669"/>
          </a:xfrm>
        </p:spPr>
      </p:pic>
    </p:spTree>
    <p:extLst>
      <p:ext uri="{BB962C8B-B14F-4D97-AF65-F5344CB8AC3E}">
        <p14:creationId xmlns:p14="http://schemas.microsoft.com/office/powerpoint/2010/main" val="1609148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E5364-3E50-1C0A-BDED-92AAB6AAB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5335A8-D80C-F79D-E721-E95BF91E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17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CA0B56D-C433-C5BF-AA37-6F4B9C0CF86F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1767CF50-ED6A-4B4F-E157-BAA2FF725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581129"/>
              </p:ext>
            </p:extLst>
          </p:nvPr>
        </p:nvGraphicFramePr>
        <p:xfrm>
          <a:off x="683079" y="1869554"/>
          <a:ext cx="10515600" cy="1920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410737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02723642"/>
                    </a:ext>
                  </a:extLst>
                </a:gridCol>
              </a:tblGrid>
              <a:tr h="504117"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chemeClr val="accent6"/>
                        </a:buClr>
                        <a:buFont typeface="Garamond" panose="02020404030301010803" pitchFamily="18" charset="0"/>
                        <a:buChar char="+"/>
                      </a:pPr>
                      <a:r>
                        <a:rPr lang="en-US" b="0" noProof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EFFICIENT SIGNING AND KEY GENERATION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C00000"/>
                        </a:buClr>
                        <a:buFont typeface="Garamond" panose="02020404030301010803" pitchFamily="18" charset="0"/>
                        <a:buChar char="−"/>
                      </a:pPr>
                      <a:r>
                        <a:rPr lang="en-US" sz="1600" b="0" noProof="0" dirty="0">
                          <a:latin typeface="Garamond" panose="02020404030301010803" pitchFamily="18" charset="0"/>
                        </a:rPr>
                        <a:t>VERIFICATION SLOWER THAN ML-DSA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782190"/>
                  </a:ext>
                </a:extLst>
              </a:tr>
              <a:tr h="504117"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chemeClr val="accent6"/>
                        </a:buClr>
                        <a:buFont typeface="Garamond" panose="02020404030301010803" pitchFamily="18" charset="0"/>
                        <a:buChar char="+"/>
                      </a:pPr>
                      <a:r>
                        <a:rPr lang="en-US" b="0" noProof="0" dirty="0">
                          <a:latin typeface="Garamond" panose="02020404030301010803" pitchFamily="18" charset="0"/>
                        </a:rPr>
                        <a:t>SIDE CHANNEL RESISTANCE ACHIVEABLE THROUGH MASKING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C00000"/>
                        </a:buClr>
                        <a:buFont typeface="Garamond" panose="02020404030301010803" pitchFamily="18" charset="0"/>
                        <a:buChar char="−"/>
                      </a:pPr>
                      <a:r>
                        <a:rPr lang="en-US" b="0" noProof="0" dirty="0">
                          <a:latin typeface="Garamond" panose="02020404030301010803" pitchFamily="18" charset="0"/>
                        </a:rPr>
                        <a:t>NEED FOR EVM ADAPTIATION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965219"/>
                  </a:ext>
                </a:extLst>
              </a:tr>
              <a:tr h="504117"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chemeClr val="accent6"/>
                        </a:buClr>
                        <a:buFont typeface="Garamond" panose="02020404030301010803" pitchFamily="18" charset="0"/>
                        <a:buChar char="+"/>
                      </a:pPr>
                      <a:endParaRPr lang="en-US" b="0" noProof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C00000"/>
                        </a:buClr>
                        <a:buFont typeface="Garamond" panose="02020404030301010803" pitchFamily="18" charset="0"/>
                        <a:buChar char="−"/>
                      </a:pPr>
                      <a:r>
                        <a:rPr lang="en-US" b="0" noProof="0" dirty="0">
                          <a:latin typeface="Garamond" panose="02020404030301010803" pitchFamily="18" charset="0"/>
                        </a:rPr>
                        <a:t>SLIGHTLY MORE COMPLEX PARAMETER TUNING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263067"/>
                  </a:ext>
                </a:extLst>
              </a:tr>
            </a:tbl>
          </a:graphicData>
        </a:graphic>
      </p:graphicFrame>
      <p:sp>
        <p:nvSpPr>
          <p:cNvPr id="7" name="Titre 1">
            <a:extLst>
              <a:ext uri="{FF2B5EF4-FFF2-40B4-BE49-F238E27FC236}">
                <a16:creationId xmlns:a16="http://schemas.microsoft.com/office/drawing/2014/main" id="{4EC5D9AD-86D5-57A0-DB5B-663F862109D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890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Gill Sans MT Condensed" panose="020B0506020104020203" pitchFamily="34" charset="0"/>
              </a:rPr>
              <a:t>NIST STANDARDS	            				               FALCON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EF8A820-E6BF-0188-4ADA-FA5BA28DF3EB}"/>
              </a:ext>
            </a:extLst>
          </p:cNvPr>
          <p:cNvSpPr txBox="1"/>
          <p:nvPr/>
        </p:nvSpPr>
        <p:spPr>
          <a:xfrm>
            <a:off x="1803496" y="4359728"/>
            <a:ext cx="8943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Garamond" panose="02020404030301010803" pitchFamily="18" charset="0"/>
              </a:rPr>
              <a:t>COULD BE USED FOR BLOCKCHAIN ENVIRONNEMENTS,</a:t>
            </a:r>
          </a:p>
          <a:p>
            <a:pPr algn="ctr"/>
            <a:r>
              <a:rPr lang="fr-FR" sz="2400" b="1" dirty="0">
                <a:latin typeface="Garamond" panose="02020404030301010803" pitchFamily="18" charset="0"/>
              </a:rPr>
              <a:t>BUT BETTER ALTERNATIVE EXIST</a:t>
            </a:r>
          </a:p>
        </p:txBody>
      </p:sp>
    </p:spTree>
    <p:extLst>
      <p:ext uri="{BB962C8B-B14F-4D97-AF65-F5344CB8AC3E}">
        <p14:creationId xmlns:p14="http://schemas.microsoft.com/office/powerpoint/2010/main" val="1090524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113A5-69CD-4A25-45BE-C03D64AA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948C30-1CD2-04FE-AE44-4134E4BF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NIST STANDARDS	            				                ML-DSA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31781C-69BF-75DB-65FA-887C09D7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18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7B0F0D8-F47D-AD8C-FC40-87DF2E88B368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Espace réservé du contenu 2">
            <a:extLst>
              <a:ext uri="{FF2B5EF4-FFF2-40B4-BE49-F238E27FC236}">
                <a16:creationId xmlns:a16="http://schemas.microsoft.com/office/drawing/2014/main" id="{720CCD45-CC1D-E981-ACAE-1869A4F9BA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384954"/>
              </p:ext>
            </p:extLst>
          </p:nvPr>
        </p:nvGraphicFramePr>
        <p:xfrm>
          <a:off x="1011447" y="1652491"/>
          <a:ext cx="10320242" cy="472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3288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8681-6B3A-E443-927E-C0B5F13F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DB5EDB-9D3E-9BDF-194B-5A650C25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NIST STANDARDS	            				                ML-DSA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4B3B31-FBBC-A8A6-BDF0-5B9A5AFF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19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E3577B62-3762-93F6-8F9C-2AFABA4C2D07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BD49325F-7250-8DA3-49B5-724764FD8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99" y="1427069"/>
            <a:ext cx="10975201" cy="4601254"/>
          </a:xfrm>
        </p:spPr>
      </p:pic>
    </p:spTree>
    <p:extLst>
      <p:ext uri="{BB962C8B-B14F-4D97-AF65-F5344CB8AC3E}">
        <p14:creationId xmlns:p14="http://schemas.microsoft.com/office/powerpoint/2010/main" val="2093101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372E-D118-7B2D-9A6A-5B191DFB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009F2F-DCD3-C881-982E-5D3787F3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20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CD0DCB6A-FAC4-D23B-5BC3-E432422E431E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8C9BD791-C1A5-2E59-9DC1-1E94ED8EB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447618"/>
              </p:ext>
            </p:extLst>
          </p:nvPr>
        </p:nvGraphicFramePr>
        <p:xfrm>
          <a:off x="683079" y="1869554"/>
          <a:ext cx="10515600" cy="164831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410737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02723642"/>
                    </a:ext>
                  </a:extLst>
                </a:gridCol>
              </a:tblGrid>
              <a:tr h="504117"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chemeClr val="accent6"/>
                        </a:buClr>
                        <a:buFont typeface="Garamond" panose="02020404030301010803" pitchFamily="18" charset="0"/>
                        <a:buChar char="+"/>
                      </a:pPr>
                      <a:r>
                        <a:rPr lang="en-US" b="0" noProof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EFFICIENT SIGNING AND KEY GENERATION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C00000"/>
                        </a:buClr>
                        <a:buFont typeface="Garamond" panose="02020404030301010803" pitchFamily="18" charset="0"/>
                        <a:buChar char="−"/>
                      </a:pPr>
                      <a:r>
                        <a:rPr lang="en-US" sz="1600" b="0" noProof="0" dirty="0">
                          <a:latin typeface="Garamond" panose="02020404030301010803" pitchFamily="18" charset="0"/>
                        </a:rPr>
                        <a:t>NEED FOR EVM ADAPTIATION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782190"/>
                  </a:ext>
                </a:extLst>
              </a:tr>
              <a:tr h="504117"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chemeClr val="accent6"/>
                        </a:buClr>
                        <a:buFont typeface="Garamond" panose="02020404030301010803" pitchFamily="18" charset="0"/>
                        <a:buChar char="+"/>
                      </a:pPr>
                      <a:r>
                        <a:rPr lang="en-US" b="0" noProof="0" dirty="0">
                          <a:latin typeface="Garamond" panose="02020404030301010803" pitchFamily="18" charset="0"/>
                        </a:rPr>
                        <a:t>ESPECIALLY EFFICIENT VERIFICATION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Clr>
                          <a:srgbClr val="C00000"/>
                        </a:buClr>
                        <a:buFont typeface="Garamond" panose="02020404030301010803" pitchFamily="18" charset="0"/>
                        <a:buChar char="−"/>
                      </a:pPr>
                      <a:r>
                        <a:rPr lang="en-US" b="0" noProof="0" dirty="0">
                          <a:latin typeface="Garamond" panose="02020404030301010803" pitchFamily="18" charset="0"/>
                        </a:rPr>
                        <a:t>SLOW SIGNING AND VERIFICATION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965219"/>
                  </a:ext>
                </a:extLst>
              </a:tr>
              <a:tr h="504117">
                <a:tc gridSpan="2">
                  <a:txBody>
                    <a:bodyPr/>
                    <a:lstStyle/>
                    <a:p>
                      <a:pPr marL="285750" indent="-285750" algn="ctr">
                        <a:buClr>
                          <a:srgbClr val="0070C0"/>
                        </a:buClr>
                        <a:buFont typeface="Garamond" panose="02020404030301010803" pitchFamily="18" charset="0"/>
                        <a:buChar char="±"/>
                      </a:pPr>
                      <a:r>
                        <a:rPr lang="en-US" b="0" noProof="0" dirty="0">
                          <a:latin typeface="Garamond" panose="02020404030301010803" pitchFamily="18" charset="0"/>
                        </a:rPr>
                        <a:t>MODERATE SIGNATURE (2.7–4.6 KB), AND KEYS SIZES (AROUND 1.3 KB)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85750" indent="-285750" algn="ctr">
                        <a:buClr>
                          <a:srgbClr val="C00000"/>
                        </a:buClr>
                        <a:buFont typeface="Garamond" panose="02020404030301010803" pitchFamily="18" charset="0"/>
                        <a:buChar char="−"/>
                      </a:pPr>
                      <a:endParaRPr lang="en-US" b="0" noProof="0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72103"/>
                  </a:ext>
                </a:extLst>
              </a:tr>
            </a:tbl>
          </a:graphicData>
        </a:graphic>
      </p:graphicFrame>
      <p:sp>
        <p:nvSpPr>
          <p:cNvPr id="7" name="Titre 1">
            <a:extLst>
              <a:ext uri="{FF2B5EF4-FFF2-40B4-BE49-F238E27FC236}">
                <a16:creationId xmlns:a16="http://schemas.microsoft.com/office/drawing/2014/main" id="{68F6700C-51A9-0A40-455C-BA02E97F782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4890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Gill Sans MT Condensed" panose="020B0506020104020203" pitchFamily="34" charset="0"/>
              </a:rPr>
              <a:t>NIST STANDARDS	            				                ML-DSA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93F3006-E37C-8267-EBBD-7B011FE9D025}"/>
              </a:ext>
            </a:extLst>
          </p:cNvPr>
          <p:cNvSpPr txBox="1"/>
          <p:nvPr/>
        </p:nvSpPr>
        <p:spPr>
          <a:xfrm>
            <a:off x="1803496" y="4359728"/>
            <a:ext cx="9301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latin typeface="Garamond" panose="02020404030301010803" pitchFamily="18" charset="0"/>
              </a:rPr>
              <a:t>MOST </a:t>
            </a:r>
            <a:r>
              <a:rPr lang="fr-FR" sz="2400" b="1">
                <a:latin typeface="Garamond" panose="02020404030301010803" pitchFamily="18" charset="0"/>
              </a:rPr>
              <a:t>VIABLE CANDIDATE </a:t>
            </a:r>
            <a:r>
              <a:rPr lang="fr-FR" sz="2400" b="1" dirty="0">
                <a:latin typeface="Garamond" panose="02020404030301010803" pitchFamily="18" charset="0"/>
              </a:rPr>
              <a:t>FOR </a:t>
            </a:r>
            <a:r>
              <a:rPr lang="fr-FR" sz="2400" b="1">
                <a:latin typeface="Garamond" panose="02020404030301010803" pitchFamily="18" charset="0"/>
              </a:rPr>
              <a:t>ETHEREUM INTGERATION</a:t>
            </a:r>
            <a:endParaRPr lang="fr-FR" sz="24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399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8B42B-14C1-419A-AE03-BEDA52D3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561112"/>
          </a:xfrm>
        </p:spPr>
        <p:txBody>
          <a:bodyPr/>
          <a:lstStyle/>
          <a:p>
            <a:r>
              <a:rPr lang="en-US" noProof="0" dirty="0">
                <a:latin typeface="Gill Sans MT Condensed" panose="020B0506020104020203" pitchFamily="34" charset="0"/>
                <a:ea typeface="Roboto" panose="02000000000000000000" pitchFamily="2" charset="0"/>
              </a:rPr>
              <a:t>IMPLEMENTATION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098B94-B6EE-487E-A18F-D99F01AC4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noProof="0" dirty="0">
                <a:solidFill>
                  <a:schemeClr val="tx1"/>
                </a:solidFill>
                <a:latin typeface="Garamond" panose="02020404030301010803" pitchFamily="18" charset="0"/>
              </a:rPr>
              <a:t>The implementation choices, transition process, timelines…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3B6681-CA3E-47E0-B990-45106277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6212" y="6367301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21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5348AF1-6D2B-4202-953D-D16AECE69A4F}"/>
              </a:ext>
            </a:extLst>
          </p:cNvPr>
          <p:cNvCxnSpPr/>
          <p:nvPr/>
        </p:nvCxnSpPr>
        <p:spPr>
          <a:xfrm>
            <a:off x="876072" y="4484393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876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070E1-2507-4858-BF5E-43E3EA96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IMPLEMENTATION					                     STRATEGY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C4F6D0-3022-4A45-9E92-1010A623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22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9B8B25E-8A4A-491D-8EC5-0B0750A88505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Espace réservé du contenu 2">
            <a:extLst>
              <a:ext uri="{FF2B5EF4-FFF2-40B4-BE49-F238E27FC236}">
                <a16:creationId xmlns:a16="http://schemas.microsoft.com/office/drawing/2014/main" id="{8506B342-BDF4-4916-BD1C-67CE2ACA6E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776085"/>
              </p:ext>
            </p:extLst>
          </p:nvPr>
        </p:nvGraphicFramePr>
        <p:xfrm>
          <a:off x="1011447" y="1652492"/>
          <a:ext cx="1016910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1283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FDC6E-B075-FD49-2933-4273A39B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2BEFC3-191F-0F94-47B1-7D3BF01F9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IMPLEMENTATION					            STRATEGY - PHASES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312167-D501-1456-7ACF-74F2E4EB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23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A2A939A-7735-21F6-116A-D2A1B51EA0C2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F0280936-EB4B-EFA3-8855-05E280F6D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49357"/>
            <a:ext cx="10515600" cy="1359287"/>
          </a:xfrm>
        </p:spPr>
      </p:pic>
    </p:spTree>
    <p:extLst>
      <p:ext uri="{BB962C8B-B14F-4D97-AF65-F5344CB8AC3E}">
        <p14:creationId xmlns:p14="http://schemas.microsoft.com/office/powerpoint/2010/main" val="1683579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D56B8-E63C-B8CC-EBDD-7E67074A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BF0626-4182-AD15-4A64-9E8620BF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IMPLEMENTATION					            	        DETAILS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A6179E-C26F-8939-5E24-77E50C37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24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1BEA4987-75CE-25F3-52D8-CD7176FF1E03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Espace réservé du contenu 2">
            <a:extLst>
              <a:ext uri="{FF2B5EF4-FFF2-40B4-BE49-F238E27FC236}">
                <a16:creationId xmlns:a16="http://schemas.microsoft.com/office/drawing/2014/main" id="{10736988-E574-0D6B-D9D6-726D870C2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727094"/>
              </p:ext>
            </p:extLst>
          </p:nvPr>
        </p:nvGraphicFramePr>
        <p:xfrm>
          <a:off x="1011447" y="1652492"/>
          <a:ext cx="1016910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2550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EBD51-447E-2AB8-AA27-93322CC05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4C438A-FE72-4EDE-025D-E6AE44389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IMPLEMENTATION					            	    </a:t>
            </a:r>
            <a:r>
              <a:rPr lang="en-US" sz="3200" dirty="0">
                <a:latin typeface="Gill Sans MT Condensed" panose="020B0506020104020203" pitchFamily="34" charset="0"/>
              </a:rPr>
              <a:t>S</a:t>
            </a:r>
            <a:r>
              <a:rPr lang="en-US" sz="3200" noProof="0" dirty="0">
                <a:latin typeface="Gill Sans MT Condensed" panose="020B0506020104020203" pitchFamily="34" charset="0"/>
              </a:rPr>
              <a:t>IMULATIONS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E45388-3F3B-80FD-26D5-C6AD55D6A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25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C2171DB-5557-C733-F1D9-13BC49B56E42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Espace réservé du contenu 2">
            <a:extLst>
              <a:ext uri="{FF2B5EF4-FFF2-40B4-BE49-F238E27FC236}">
                <a16:creationId xmlns:a16="http://schemas.microsoft.com/office/drawing/2014/main" id="{290A569C-9329-4FAF-C904-AF1BB78985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6134915"/>
              </p:ext>
            </p:extLst>
          </p:nvPr>
        </p:nvGraphicFramePr>
        <p:xfrm>
          <a:off x="1011447" y="1652492"/>
          <a:ext cx="1016910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6414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8B42B-14C1-419A-AE03-BEDA52D3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5619"/>
            <a:ext cx="10515600" cy="2561112"/>
          </a:xfrm>
        </p:spPr>
        <p:txBody>
          <a:bodyPr>
            <a:normAutofit/>
          </a:bodyPr>
          <a:lstStyle/>
          <a:p>
            <a:pPr algn="ctr"/>
            <a:r>
              <a:rPr lang="en-US" sz="11500" noProof="0" dirty="0">
                <a:latin typeface="Gill Sans MT Condensed" panose="020B0506020104020203" pitchFamily="34" charset="0"/>
                <a:ea typeface="Roboto" panose="02000000000000000000" pitchFamily="2" charset="0"/>
              </a:rPr>
              <a:t>DEMONSTRATION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098B94-B6EE-487E-A18F-D99F01AC4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noProof="0" dirty="0">
                <a:solidFill>
                  <a:schemeClr val="tx1"/>
                </a:solidFill>
                <a:latin typeface="Garamond" panose="02020404030301010803" pitchFamily="18" charset="0"/>
              </a:rPr>
              <a:t>Prepare to be mildly impressed.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5348AF1-6D2B-4202-953D-D16AECE69A4F}"/>
              </a:ext>
            </a:extLst>
          </p:cNvPr>
          <p:cNvCxnSpPr/>
          <p:nvPr/>
        </p:nvCxnSpPr>
        <p:spPr>
          <a:xfrm>
            <a:off x="876072" y="4484393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315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8B42B-14C1-419A-AE03-BEDA52D3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561112"/>
          </a:xfrm>
        </p:spPr>
        <p:txBody>
          <a:bodyPr/>
          <a:lstStyle/>
          <a:p>
            <a:r>
              <a:rPr lang="en-US" dirty="0">
                <a:latin typeface="Gill Sans MT Condensed" panose="020B0506020104020203" pitchFamily="34" charset="0"/>
                <a:ea typeface="Roboto" panose="02000000000000000000" pitchFamily="2" charset="0"/>
              </a:rPr>
              <a:t>RESULTS</a:t>
            </a:r>
            <a:endParaRPr lang="en-US" noProof="0" dirty="0">
              <a:latin typeface="Gill Sans MT Condensed" panose="020B0506020104020203" pitchFamily="34" charset="0"/>
              <a:ea typeface="Roboto" panose="02000000000000000000" pitchFamily="2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098B94-B6EE-487E-A18F-D99F01AC4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800" noProof="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3B6681-CA3E-47E0-B990-45106277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6212" y="6367301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27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5348AF1-6D2B-4202-953D-D16AECE69A4F}"/>
              </a:ext>
            </a:extLst>
          </p:cNvPr>
          <p:cNvCxnSpPr/>
          <p:nvPr/>
        </p:nvCxnSpPr>
        <p:spPr>
          <a:xfrm>
            <a:off x="876072" y="4484393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766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070E1-2507-4858-BF5E-43E3EA96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RESULTS			     				           BLOCK TIME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C4F6D0-3022-4A45-9E92-1010A623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28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9B8B25E-8A4A-491D-8EC5-0B0750A88505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D476B280-346A-4510-FD7E-0D222AEA1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143" y="1578125"/>
            <a:ext cx="8997714" cy="442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55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CC55C-CFB7-AD32-FD4F-A775684F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14609-8070-557B-CCCE-0E743B28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RESULTS			     				           BLOCK TIME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EF4B80-8D65-D1C6-36E7-7ABB2E06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29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8E9F1E6-9706-836A-D41D-248812862CAA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28CC3005-A03F-2F1D-A66C-B5C21C7AF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147" y="1652492"/>
            <a:ext cx="7331706" cy="4351338"/>
          </a:xfrm>
        </p:spPr>
      </p:pic>
    </p:spTree>
    <p:extLst>
      <p:ext uri="{BB962C8B-B14F-4D97-AF65-F5344CB8AC3E}">
        <p14:creationId xmlns:p14="http://schemas.microsoft.com/office/powerpoint/2010/main" val="3103579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A9A9-B05C-B91B-13BF-AEA4268E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CB1B9-6A3F-DA94-BF59-FC37D42C2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RESULTS			     				          SIGNING TIME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043EC9-2BBD-B860-A670-F6C1EE948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30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2C0ECA3-8069-F937-8322-FCD27890A621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333E56BE-B2A3-B533-30BC-525323216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248" y="1620991"/>
            <a:ext cx="9887503" cy="3984963"/>
          </a:xfrm>
        </p:spPr>
      </p:pic>
    </p:spTree>
    <p:extLst>
      <p:ext uri="{BB962C8B-B14F-4D97-AF65-F5344CB8AC3E}">
        <p14:creationId xmlns:p14="http://schemas.microsoft.com/office/powerpoint/2010/main" val="4286103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EF27-CDEF-FEF6-CD7E-1407506D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9D28FB-46DB-C5AD-5B83-3047EA057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RESULTS			     				      VERIFICATION TIME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F30959-E59D-1CDA-1E5F-97323EBA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31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CCEA1AA-59FE-6A02-5EAE-BB36FF9DA346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3C947451-BA0E-0CF9-597B-D1EFF67E4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659" y="1629217"/>
            <a:ext cx="9846682" cy="3968511"/>
          </a:xfrm>
        </p:spPr>
      </p:pic>
    </p:spTree>
    <p:extLst>
      <p:ext uri="{BB962C8B-B14F-4D97-AF65-F5344CB8AC3E}">
        <p14:creationId xmlns:p14="http://schemas.microsoft.com/office/powerpoint/2010/main" val="1823379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7EB69-3D02-E32F-6F0A-EB7115BE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775816-B501-BCAC-2C07-08554820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RESULTS			     				      		GAS COST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2E9763-39E9-3251-19AA-0E873D7F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32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DA49651-DDA8-1212-B796-59FBE6CB63F6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48D09137-F8FD-AA60-B202-B80EF2DCC4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734521"/>
              </p:ext>
            </p:extLst>
          </p:nvPr>
        </p:nvGraphicFramePr>
        <p:xfrm>
          <a:off x="838200" y="1825624"/>
          <a:ext cx="10515600" cy="281985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979574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025628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86061054"/>
                    </a:ext>
                  </a:extLst>
                </a:gridCol>
              </a:tblGrid>
              <a:tr h="563971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Garamond" panose="02020404030301010803" pitchFamily="18" charset="0"/>
                        </a:rPr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Garamond" panose="02020404030301010803" pitchFamily="18" charset="0"/>
                        </a:rPr>
                        <a:t>ESTIM. GAS COST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Garamond" panose="02020404030301010803" pitchFamily="18" charset="0"/>
                        </a:rPr>
                        <a:t>AVG. SIGNATURE SIZE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0026765"/>
                  </a:ext>
                </a:extLst>
              </a:tr>
              <a:tr h="563971"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Phase 1 (ECDSA)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1024.00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64.00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4856554"/>
                  </a:ext>
                </a:extLst>
              </a:tr>
              <a:tr h="563971"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Phase 2 (</a:t>
                      </a:r>
                      <a:r>
                        <a:rPr lang="fr-FR" sz="1800" b="0" i="0" u="none" strike="noStrike" kern="1200" baseline="0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Hybrid</a:t>
                      </a:r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)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13917.00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875.25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6537655"/>
                  </a:ext>
                </a:extLst>
              </a:tr>
              <a:tr h="563971"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Phase 3 (</a:t>
                      </a:r>
                      <a:r>
                        <a:rPr lang="fr-FR" sz="1800" b="0" i="0" u="none" strike="noStrike" kern="1200" baseline="0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Hybrid</a:t>
                      </a:r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)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39703.00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2497.75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771913"/>
                  </a:ext>
                </a:extLst>
              </a:tr>
              <a:tr h="563971"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Phase 4 (ML-DSA)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52596.00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u="none" strike="noStrike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3309.00</a:t>
                      </a:r>
                      <a:endParaRPr lang="fr-FR" dirty="0">
                        <a:latin typeface="Garamond" panose="020204040303010108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037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451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42B01-45AD-DD70-7F20-62CD5D4B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ACC97E-D9C1-9F98-77B5-9679312E0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561112"/>
          </a:xfrm>
        </p:spPr>
        <p:txBody>
          <a:bodyPr/>
          <a:lstStyle/>
          <a:p>
            <a:r>
              <a:rPr lang="en-US" dirty="0">
                <a:latin typeface="Gill Sans MT Condensed" panose="020B0506020104020203" pitchFamily="34" charset="0"/>
                <a:ea typeface="Roboto" panose="02000000000000000000" pitchFamily="2" charset="0"/>
              </a:rPr>
              <a:t>OTHER PRIVACY AND SECURITY ENHANCEMENTS</a:t>
            </a:r>
            <a:endParaRPr lang="en-US" noProof="0" dirty="0">
              <a:latin typeface="Gill Sans MT Condensed" panose="020B0506020104020203" pitchFamily="34" charset="0"/>
              <a:ea typeface="Roboto" panose="02000000000000000000" pitchFamily="2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756966-8A7A-8BDD-5F8C-085FE407F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Garamond" panose="02020404030301010803" pitchFamily="18" charset="0"/>
              </a:rPr>
              <a:t>Managing </a:t>
            </a:r>
            <a:r>
              <a:rPr lang="en-US" sz="2800" dirty="0" err="1">
                <a:solidFill>
                  <a:schemeClr val="tx1"/>
                </a:solidFill>
                <a:latin typeface="Garamond" panose="02020404030301010803" pitchFamily="18" charset="0"/>
              </a:rPr>
              <a:t>unlinkability</a:t>
            </a:r>
            <a:r>
              <a:rPr lang="en-US" sz="2800" dirty="0">
                <a:solidFill>
                  <a:schemeClr val="tx1"/>
                </a:solidFill>
                <a:latin typeface="Garamond" panose="02020404030301010803" pitchFamily="18" charset="0"/>
              </a:rPr>
              <a:t>, zero knowledge proofs…</a:t>
            </a:r>
            <a:endParaRPr lang="en-US" sz="2800" noProof="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711768-3546-2068-AA18-6368ECFB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6212" y="6367301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33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D3AFB8E-9F02-C13F-870B-53E18B761A63}"/>
              </a:ext>
            </a:extLst>
          </p:cNvPr>
          <p:cNvCxnSpPr/>
          <p:nvPr/>
        </p:nvCxnSpPr>
        <p:spPr>
          <a:xfrm>
            <a:off x="876072" y="4484393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318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070E1-2507-4858-BF5E-43E3EA96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dirty="0">
                <a:latin typeface="Gill Sans MT Condensed" panose="020B0506020104020203" pitchFamily="34" charset="0"/>
                <a:ea typeface="Roboto" panose="02000000000000000000" pitchFamily="2" charset="0"/>
              </a:rPr>
              <a:t>PRIVACY AND SECURITY ENHANCEMENTS </a:t>
            </a:r>
            <a:r>
              <a:rPr lang="en-US" sz="3200" noProof="0" dirty="0">
                <a:latin typeface="Gill Sans MT Condensed" panose="020B0506020104020203" pitchFamily="34" charset="0"/>
              </a:rPr>
              <a:t>		</a:t>
            </a: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4673E8D1-A937-951D-3452-5DD0FF8364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7439853"/>
              </p:ext>
            </p:extLst>
          </p:nvPr>
        </p:nvGraphicFramePr>
        <p:xfrm>
          <a:off x="838200" y="1825625"/>
          <a:ext cx="1016910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C4F6D0-3022-4A45-9E92-1010A623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34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9B8B25E-8A4A-491D-8EC5-0B0750A88505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A029-8F4C-5C57-B01D-FB6C825C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9A1B21-F4E7-FE57-9E7B-FB15C80AF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dirty="0">
                <a:latin typeface="Gill Sans MT Condensed" panose="020B0506020104020203" pitchFamily="34" charset="0"/>
                <a:ea typeface="Roboto" panose="02000000000000000000" pitchFamily="2" charset="0"/>
              </a:rPr>
              <a:t>PRIVACY AND SECURITY ENHANCEMENTS </a:t>
            </a:r>
            <a:r>
              <a:rPr lang="en-US" sz="3200" noProof="0" dirty="0">
                <a:latin typeface="Gill Sans MT Condensed" panose="020B0506020104020203" pitchFamily="34" charset="0"/>
              </a:rPr>
              <a:t>			</a:t>
            </a:r>
            <a:r>
              <a:rPr lang="en-US" sz="3200" dirty="0">
                <a:latin typeface="Gill Sans MT Condensed" panose="020B0506020104020203" pitchFamily="34" charset="0"/>
              </a:rPr>
              <a:t>     </a:t>
            </a:r>
            <a:r>
              <a:rPr lang="en-US" sz="3200" noProof="0" dirty="0">
                <a:latin typeface="Gill Sans MT Condensed" panose="020B0506020104020203" pitchFamily="34" charset="0"/>
              </a:rPr>
              <a:t>ZKPs I</a:t>
            </a:r>
            <a:r>
              <a:rPr lang="en-US" sz="3200" dirty="0">
                <a:latin typeface="Gill Sans MT Condensed" panose="020B0506020104020203" pitchFamily="34" charset="0"/>
              </a:rPr>
              <a:t>N ETHEREUM</a:t>
            </a:r>
            <a:endParaRPr lang="en-US" sz="3200" noProof="0" dirty="0">
              <a:latin typeface="Gill Sans MT Condensed" panose="020B0506020104020203" pitchFamily="34" charset="0"/>
            </a:endParaRP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798459E7-B533-EBBD-ABA2-0DE1AFF67D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090485"/>
              </p:ext>
            </p:extLst>
          </p:nvPr>
        </p:nvGraphicFramePr>
        <p:xfrm>
          <a:off x="838200" y="1825625"/>
          <a:ext cx="1016910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196EEF-03C7-5D40-063B-835C0FE1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35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19C828A-61F9-9165-10DA-FA42BFD39984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404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8B42B-14C1-419A-AE03-BEDA52D3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561112"/>
          </a:xfrm>
        </p:spPr>
        <p:txBody>
          <a:bodyPr/>
          <a:lstStyle/>
          <a:p>
            <a:r>
              <a:rPr lang="en-US" noProof="0" dirty="0">
                <a:latin typeface="Gill Sans MT Condensed" panose="020B0506020104020203" pitchFamily="34" charset="0"/>
                <a:ea typeface="Roboto" panose="02000000000000000000" pitchFamily="2" charset="0"/>
              </a:rPr>
              <a:t>CONCLUSION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098B94-B6EE-487E-A18F-D99F01AC4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tx1"/>
                </a:solidFill>
                <a:latin typeface="Garamond" panose="02020404030301010803" pitchFamily="18" charset="0"/>
              </a:rPr>
              <a:t>If you weren’t listening it’s okay, I’m going to summarize (almost) everything.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3B6681-CA3E-47E0-B990-45106277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6212" y="6367301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36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5348AF1-6D2B-4202-953D-D16AECE69A4F}"/>
              </a:ext>
            </a:extLst>
          </p:cNvPr>
          <p:cNvCxnSpPr/>
          <p:nvPr/>
        </p:nvCxnSpPr>
        <p:spPr>
          <a:xfrm>
            <a:off x="876072" y="4484393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992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B070E1-2507-4858-BF5E-43E3EA96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9045"/>
          </a:xfrm>
        </p:spPr>
        <p:txBody>
          <a:bodyPr>
            <a:noAutofit/>
          </a:bodyPr>
          <a:lstStyle/>
          <a:p>
            <a:r>
              <a:rPr lang="en-US" sz="3200" noProof="0" dirty="0">
                <a:latin typeface="Gill Sans MT Condensed" panose="020B0506020104020203" pitchFamily="34" charset="0"/>
              </a:rPr>
              <a:t>CONCLUSION	            				              FINAL THOUGHTS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C4F6D0-3022-4A45-9E92-1010A623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457" y="6372776"/>
            <a:ext cx="2743200" cy="365125"/>
          </a:xfrm>
        </p:spPr>
        <p:txBody>
          <a:bodyPr/>
          <a:lstStyle/>
          <a:p>
            <a:fld id="{D41CEBFC-50E9-445C-A7E9-E146AF536C13}" type="slidenum">
              <a:rPr lang="en-US" sz="1400" noProof="0" smtClean="0">
                <a:latin typeface="Apple Garamond" panose="02000506080000020004" pitchFamily="2" charset="0"/>
              </a:rPr>
              <a:t>37</a:t>
            </a:fld>
            <a:endParaRPr lang="en-US" noProof="0" dirty="0">
              <a:latin typeface="Apple Garamond" panose="02000506080000020004" pitchFamily="2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9B8B25E-8A4A-491D-8EC5-0B0750A88505}"/>
              </a:ext>
            </a:extLst>
          </p:cNvPr>
          <p:cNvCxnSpPr>
            <a:cxnSpLocks/>
          </p:cNvCxnSpPr>
          <p:nvPr/>
        </p:nvCxnSpPr>
        <p:spPr>
          <a:xfrm>
            <a:off x="860311" y="854170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66092F-1E14-B366-E045-299071774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2492"/>
            <a:ext cx="10169106" cy="4351338"/>
          </a:xfrm>
        </p:spPr>
        <p:txBody>
          <a:bodyPr>
            <a:normAutofit/>
          </a:bodyPr>
          <a:lstStyle/>
          <a:p>
            <a:endParaRPr lang="en-US" noProof="0" dirty="0">
              <a:latin typeface="Garamond" panose="02020404030301010803" pitchFamily="18" charset="0"/>
            </a:endParaRPr>
          </a:p>
          <a:p>
            <a:r>
              <a:rPr lang="en-US" noProof="0" dirty="0">
                <a:latin typeface="Garamond" panose="02020404030301010803" pitchFamily="18" charset="0"/>
              </a:rPr>
              <a:t>ML-DSA offers best balance between security</a:t>
            </a:r>
            <a:r>
              <a:rPr lang="en-US" dirty="0">
                <a:latin typeface="Garamond" panose="02020404030301010803" pitchFamily="18" charset="0"/>
              </a:rPr>
              <a:t>, performance and integrability</a:t>
            </a:r>
            <a:endParaRPr lang="en-US" noProof="0" dirty="0">
              <a:latin typeface="Garamond" panose="02020404030301010803" pitchFamily="18" charset="0"/>
            </a:endParaRPr>
          </a:p>
          <a:p>
            <a:endParaRPr lang="en-US" noProof="0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PQC migration seems feasible, but induces overhead and increases gas cost </a:t>
            </a:r>
          </a:p>
          <a:p>
            <a:endParaRPr lang="en-US" noProof="0" dirty="0">
              <a:latin typeface="Garamond" panose="02020404030301010803" pitchFamily="18" charset="0"/>
            </a:endParaRPr>
          </a:p>
          <a:p>
            <a:r>
              <a:rPr lang="en-US" dirty="0">
                <a:latin typeface="Garamond" panose="02020404030301010803" pitchFamily="18" charset="0"/>
              </a:rPr>
              <a:t>Biggest challenge will likely be adapting EVMs</a:t>
            </a:r>
            <a:endParaRPr lang="en-US" noProof="0" dirty="0">
              <a:latin typeface="Garamond" panose="02020404030301010803" pitchFamily="18" charset="0"/>
            </a:endParaRPr>
          </a:p>
          <a:p>
            <a:endParaRPr lang="en-US" noProof="0" dirty="0">
              <a:latin typeface="Garamond" panose="02020404030301010803" pitchFamily="18" charset="0"/>
            </a:endParaRPr>
          </a:p>
          <a:p>
            <a:endParaRPr lang="en-US" noProof="0" dirty="0">
              <a:latin typeface="Apple Garamond" panose="0200050608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234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8B42B-14C1-419A-AE03-BEDA52D3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5619"/>
            <a:ext cx="10515600" cy="2561112"/>
          </a:xfrm>
        </p:spPr>
        <p:txBody>
          <a:bodyPr>
            <a:normAutofit/>
          </a:bodyPr>
          <a:lstStyle/>
          <a:p>
            <a:pPr algn="ctr"/>
            <a:r>
              <a:rPr lang="en-US" sz="11500" noProof="0" dirty="0">
                <a:latin typeface="Gill Sans MT Condensed" panose="020B0506020104020203" pitchFamily="34" charset="0"/>
                <a:ea typeface="Roboto" panose="02000000000000000000" pitchFamily="2" charset="0"/>
              </a:rPr>
              <a:t>THANK YOU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098B94-B6EE-487E-A18F-D99F01AC4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noProof="0" dirty="0">
                <a:solidFill>
                  <a:schemeClr val="tx1"/>
                </a:solidFill>
                <a:latin typeface="Garamond" panose="02020404030301010803" pitchFamily="18" charset="0"/>
              </a:rPr>
              <a:t>Any questions? Remarks ?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5348AF1-6D2B-4202-953D-D16AECE69A4F}"/>
              </a:ext>
            </a:extLst>
          </p:cNvPr>
          <p:cNvCxnSpPr/>
          <p:nvPr/>
        </p:nvCxnSpPr>
        <p:spPr>
          <a:xfrm>
            <a:off x="876072" y="4484393"/>
            <a:ext cx="104713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786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A474EF5-F443-477B-8C37-A64DFD1D9720}">
  <we:reference id="wa200005566" version="3.0.0.3" store="fr-F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988</Words>
  <Application>Microsoft Office PowerPoint</Application>
  <PresentationFormat>Grand écran</PresentationFormat>
  <Paragraphs>191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5" baseType="lpstr">
      <vt:lpstr>Apple Garamond</vt:lpstr>
      <vt:lpstr>Arial</vt:lpstr>
      <vt:lpstr>Calibri</vt:lpstr>
      <vt:lpstr>Calibri Light</vt:lpstr>
      <vt:lpstr>Garamond</vt:lpstr>
      <vt:lpstr>Gill Sans MT Condensed</vt:lpstr>
      <vt:lpstr>Office Theme</vt:lpstr>
      <vt:lpstr>Exploring Quantum-Resistant Signatures for Ethereum’s Hybrid Blockchain</vt:lpstr>
      <vt:lpstr>INTRODUCTION</vt:lpstr>
      <vt:lpstr>INTRODUCTION                          CONTEXT - ETHEREUM</vt:lpstr>
      <vt:lpstr>INTRODUCTION                   CONTEXT – QUANTUM THREAT</vt:lpstr>
      <vt:lpstr>INTRODUCTION                           CONTEXT - NIST</vt:lpstr>
      <vt:lpstr>CRYPTOGRAPHIC BACKGROUND</vt:lpstr>
      <vt:lpstr>CRYPTOGRAPHIC BACKGROUND                        PROOF of STAKE</vt:lpstr>
      <vt:lpstr>CRYPTOGRAPHIC BACKGROUND                           SIGNATURES</vt:lpstr>
      <vt:lpstr>Présentation PowerPoint</vt:lpstr>
      <vt:lpstr>Présentation PowerPoint</vt:lpstr>
      <vt:lpstr>NIST STANDARD SCHEMES</vt:lpstr>
      <vt:lpstr>NIST STANDARDS                                SLH-DSA</vt:lpstr>
      <vt:lpstr>NIST STANDARDS                                SLH-DSA</vt:lpstr>
      <vt:lpstr>Présentation PowerPoint</vt:lpstr>
      <vt:lpstr>NIST STANDARDS                                FALCON</vt:lpstr>
      <vt:lpstr>NIST STANDARDS                                FALCON</vt:lpstr>
      <vt:lpstr>Présentation PowerPoint</vt:lpstr>
      <vt:lpstr>NIST STANDARDS                                 ML-DSA</vt:lpstr>
      <vt:lpstr>NIST STANDARDS                                 ML-DSA</vt:lpstr>
      <vt:lpstr>Présentation PowerPoint</vt:lpstr>
      <vt:lpstr>IMPLEMENTATION</vt:lpstr>
      <vt:lpstr>IMPLEMENTATION                          STRATEGY</vt:lpstr>
      <vt:lpstr>IMPLEMENTATION                 STRATEGY - PHASES</vt:lpstr>
      <vt:lpstr>IMPLEMENTATION                          DETAILS</vt:lpstr>
      <vt:lpstr>IMPLEMENTATION                      SIMULATIONS</vt:lpstr>
      <vt:lpstr>DEMONSTRATION</vt:lpstr>
      <vt:lpstr>RESULTS</vt:lpstr>
      <vt:lpstr>RESULTS                       BLOCK TIME</vt:lpstr>
      <vt:lpstr>RESULTS                       BLOCK TIME</vt:lpstr>
      <vt:lpstr>RESULTS                      SIGNING TIME</vt:lpstr>
      <vt:lpstr>RESULTS                  VERIFICATION TIME</vt:lpstr>
      <vt:lpstr>RESULTS                    GAS COST</vt:lpstr>
      <vt:lpstr>OTHER PRIVACY AND SECURITY ENHANCEMENTS</vt:lpstr>
      <vt:lpstr>PRIVACY AND SECURITY ENHANCEMENTS   </vt:lpstr>
      <vt:lpstr>PRIVACY AND SECURITY ENHANCEMENTS         ZKPs IN ETHEREUM</vt:lpstr>
      <vt:lpstr>CONCLUSION</vt:lpstr>
      <vt:lpstr>CONCLUSION                               FINAL THOUGHTS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Splicing / Image tampering detection using CNNs and ELA</dc:title>
  <dc:creator>Dany Darghouth</dc:creator>
  <cp:lastModifiedBy>Dany Darghouth</cp:lastModifiedBy>
  <cp:revision>136</cp:revision>
  <dcterms:created xsi:type="dcterms:W3CDTF">2023-12-19T11:37:02Z</dcterms:created>
  <dcterms:modified xsi:type="dcterms:W3CDTF">2025-07-01T14:46:48Z</dcterms:modified>
</cp:coreProperties>
</file>